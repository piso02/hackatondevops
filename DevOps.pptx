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8"/>
  </p:notesMasterIdLst>
  <p:sldIdLst>
    <p:sldId id="256" r:id="rId2"/>
    <p:sldId id="257" r:id="rId3"/>
    <p:sldId id="261" r:id="rId4"/>
    <p:sldId id="260" r:id="rId5"/>
    <p:sldId id="258" r:id="rId6"/>
    <p:sldId id="281" r:id="rId7"/>
    <p:sldId id="259"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51E7D0-0EF3-7902-A904-528E1A5F77CD}" v="19" dt="2021-06-19T15:14:49.994"/>
    <p1510:client id="{F1ACE707-84D6-E996-D98C-6D82546B491B}" v="3" dt="2021-06-19T15:03:04.1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tilisateur invité" userId="S::urn:spo:anon#eecbfac9f3dcfb382430159c29d8c86be79b8b0dac2e366c7b2cfb8305d0ef79::" providerId="AD" clId="Web-{F1ACE707-84D6-E996-D98C-6D82546B491B}"/>
    <pc:docChg chg="modSld">
      <pc:chgData name="Utilisateur invité" userId="S::urn:spo:anon#eecbfac9f3dcfb382430159c29d8c86be79b8b0dac2e366c7b2cfb8305d0ef79::" providerId="AD" clId="Web-{F1ACE707-84D6-E996-D98C-6D82546B491B}" dt="2021-06-19T15:03:04.156" v="2"/>
      <pc:docMkLst>
        <pc:docMk/>
      </pc:docMkLst>
      <pc:sldChg chg="addSp">
        <pc:chgData name="Utilisateur invité" userId="S::urn:spo:anon#eecbfac9f3dcfb382430159c29d8c86be79b8b0dac2e366c7b2cfb8305d0ef79::" providerId="AD" clId="Web-{F1ACE707-84D6-E996-D98C-6D82546B491B}" dt="2021-06-19T15:03:04.156" v="2"/>
        <pc:sldMkLst>
          <pc:docMk/>
          <pc:sldMk cId="0" sldId="256"/>
        </pc:sldMkLst>
        <pc:spChg chg="add">
          <ac:chgData name="Utilisateur invité" userId="S::urn:spo:anon#eecbfac9f3dcfb382430159c29d8c86be79b8b0dac2e366c7b2cfb8305d0ef79::" providerId="AD" clId="Web-{F1ACE707-84D6-E996-D98C-6D82546B491B}" dt="2021-06-19T15:03:04.093" v="0"/>
          <ac:spMkLst>
            <pc:docMk/>
            <pc:sldMk cId="0" sldId="256"/>
            <ac:spMk id="4" creationId="{3994F322-A0B3-43B9-8800-6D9F73E0C36E}"/>
          </ac:spMkLst>
        </pc:spChg>
        <pc:spChg chg="add">
          <ac:chgData name="Utilisateur invité" userId="S::urn:spo:anon#eecbfac9f3dcfb382430159c29d8c86be79b8b0dac2e366c7b2cfb8305d0ef79::" providerId="AD" clId="Web-{F1ACE707-84D6-E996-D98C-6D82546B491B}" dt="2021-06-19T15:03:04.125" v="1"/>
          <ac:spMkLst>
            <pc:docMk/>
            <pc:sldMk cId="0" sldId="256"/>
            <ac:spMk id="5" creationId="{1CD68846-1A30-4622-B296-EF0C7C98F11F}"/>
          </ac:spMkLst>
        </pc:spChg>
        <pc:spChg chg="add">
          <ac:chgData name="Utilisateur invité" userId="S::urn:spo:anon#eecbfac9f3dcfb382430159c29d8c86be79b8b0dac2e366c7b2cfb8305d0ef79::" providerId="AD" clId="Web-{F1ACE707-84D6-E996-D98C-6D82546B491B}" dt="2021-06-19T15:03:04.156" v="2"/>
          <ac:spMkLst>
            <pc:docMk/>
            <pc:sldMk cId="0" sldId="256"/>
            <ac:spMk id="6" creationId="{92DDC61D-2884-473E-900D-B44FFC495EF4}"/>
          </ac:spMkLst>
        </pc:spChg>
      </pc:sldChg>
    </pc:docChg>
  </pc:docChgLst>
  <pc:docChgLst>
    <pc:chgData name="Utilisateur invité" userId="S::urn:spo:anon#eecbfac9f3dcfb382430159c29d8c86be79b8b0dac2e366c7b2cfb8305d0ef79::" providerId="AD" clId="Web-{5B51E7D0-0EF3-7902-A904-528E1A5F77CD}"/>
    <pc:docChg chg="modSld">
      <pc:chgData name="Utilisateur invité" userId="S::urn:spo:anon#eecbfac9f3dcfb382430159c29d8c86be79b8b0dac2e366c7b2cfb8305d0ef79::" providerId="AD" clId="Web-{5B51E7D0-0EF3-7902-A904-528E1A5F77CD}" dt="2021-06-19T15:14:49.994" v="8"/>
      <pc:docMkLst>
        <pc:docMk/>
      </pc:docMkLst>
      <pc:sldChg chg="delSp modSp">
        <pc:chgData name="Utilisateur invité" userId="S::urn:spo:anon#eecbfac9f3dcfb382430159c29d8c86be79b8b0dac2e366c7b2cfb8305d0ef79::" providerId="AD" clId="Web-{5B51E7D0-0EF3-7902-A904-528E1A5F77CD}" dt="2021-06-19T15:14:49.994" v="8"/>
        <pc:sldMkLst>
          <pc:docMk/>
          <pc:sldMk cId="0" sldId="256"/>
        </pc:sldMkLst>
        <pc:spChg chg="del mod">
          <ac:chgData name="Utilisateur invité" userId="S::urn:spo:anon#eecbfac9f3dcfb382430159c29d8c86be79b8b0dac2e366c7b2cfb8305d0ef79::" providerId="AD" clId="Web-{5B51E7D0-0EF3-7902-A904-528E1A5F77CD}" dt="2021-06-19T15:14:49.994" v="8"/>
          <ac:spMkLst>
            <pc:docMk/>
            <pc:sldMk cId="0" sldId="256"/>
            <ac:spMk id="4" creationId="{3994F322-A0B3-43B9-8800-6D9F73E0C36E}"/>
          </ac:spMkLst>
        </pc:spChg>
        <pc:spChg chg="del mod">
          <ac:chgData name="Utilisateur invité" userId="S::urn:spo:anon#eecbfac9f3dcfb382430159c29d8c86be79b8b0dac2e366c7b2cfb8305d0ef79::" providerId="AD" clId="Web-{5B51E7D0-0EF3-7902-A904-528E1A5F77CD}" dt="2021-06-19T15:14:42.025" v="5"/>
          <ac:spMkLst>
            <pc:docMk/>
            <pc:sldMk cId="0" sldId="256"/>
            <ac:spMk id="5" creationId="{1CD68846-1A30-4622-B296-EF0C7C98F11F}"/>
          </ac:spMkLst>
        </pc:spChg>
        <pc:spChg chg="del mod">
          <ac:chgData name="Utilisateur invité" userId="S::urn:spo:anon#eecbfac9f3dcfb382430159c29d8c86be79b8b0dac2e366c7b2cfb8305d0ef79::" providerId="AD" clId="Web-{5B51E7D0-0EF3-7902-A904-528E1A5F77CD}" dt="2021-06-19T15:14:34.400" v="3"/>
          <ac:spMkLst>
            <pc:docMk/>
            <pc:sldMk cId="0" sldId="256"/>
            <ac:spMk id="6" creationId="{92DDC61D-2884-473E-900D-B44FFC495EF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1490FD-73D4-4CD5-A256-C35F3CDDEA6B}" type="datetimeFigureOut">
              <a:rPr lang="fr-FR" smtClean="0"/>
              <a:pPr/>
              <a:t>19/06/2021</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DBDE40-FF17-4E3D-A265-7330CEB96481}" type="slidenum">
              <a:rPr lang="fr-FR" smtClean="0"/>
              <a:pPr/>
              <a:t>‹#›</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err="1"/>
              <a:t>Process</a:t>
            </a:r>
            <a:r>
              <a:rPr lang="fr-FR" baseline="0"/>
              <a:t> 	- procédé, méthode, ensemble de phases composées d’actions feedback </a:t>
            </a:r>
          </a:p>
          <a:p>
            <a:r>
              <a:rPr lang="fr-FR" baseline="0"/>
              <a:t>	- équipes DEV TEST OPS dialogue communication partage confrontation</a:t>
            </a:r>
          </a:p>
          <a:p>
            <a:r>
              <a:rPr lang="fr-FR" baseline="0" err="1"/>
              <a:t>Develop</a:t>
            </a:r>
            <a:r>
              <a:rPr lang="fr-FR" baseline="0"/>
              <a:t>	- développer : concevoir, coder, intégrer, construire, tester, packager...</a:t>
            </a:r>
          </a:p>
          <a:p>
            <a:r>
              <a:rPr lang="fr-FR" baseline="0" err="1"/>
              <a:t>Deliver</a:t>
            </a:r>
            <a:r>
              <a:rPr lang="fr-FR" baseline="0"/>
              <a:t>	- </a:t>
            </a:r>
            <a:r>
              <a:rPr lang="fr-FR" baseline="0" err="1"/>
              <a:t>ivrer</a:t>
            </a:r>
            <a:r>
              <a:rPr lang="fr-FR" baseline="0"/>
              <a:t>, fournir, offrir : </a:t>
            </a:r>
          </a:p>
          <a:p>
            <a:r>
              <a:rPr lang="fr-FR" baseline="0" err="1"/>
              <a:t>Operate</a:t>
            </a:r>
            <a:r>
              <a:rPr lang="fr-FR" baseline="0"/>
              <a:t>	- faire fonctionner, opérer , exploiter : installation des </a:t>
            </a:r>
            <a:r>
              <a:rPr lang="fr-FR" baseline="0" err="1"/>
              <a:t>intergiciels</a:t>
            </a:r>
            <a:r>
              <a:rPr lang="fr-FR" baseline="0"/>
              <a:t>  nécessaires, configuration des serveurs, …</a:t>
            </a:r>
          </a:p>
          <a:p>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5</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a:t>Il ne suffit pas d’u</a:t>
            </a:r>
            <a:r>
              <a:rPr lang="fr-FR" baseline="0"/>
              <a:t>tiliser tel ou tel outil ou de migrer vos applications logicielles vers le Cloud pour dire qu’on est passé en </a:t>
            </a:r>
            <a:r>
              <a:rPr lang="fr-FR" baseline="0" err="1"/>
              <a:t>DevOps</a:t>
            </a:r>
            <a:endParaRPr lang="fr-FR" baseline="0"/>
          </a:p>
          <a:p>
            <a:r>
              <a:rPr lang="fr-FR" baseline="0" err="1"/>
              <a:t>DevOps</a:t>
            </a:r>
            <a:r>
              <a:rPr lang="fr-FR" baseline="0"/>
              <a:t> est un processus et une culture. Les outils sont là pour l’implémentation et la mise en œuvre de ce processus.</a:t>
            </a:r>
          </a:p>
          <a:p>
            <a:endParaRPr lang="fr-FR" baseline="0"/>
          </a:p>
          <a:p>
            <a:r>
              <a:rPr lang="fr-FR" baseline="0"/>
              <a:t>Il ne suffit pas de mettre dans un même bureau les développeurs, testeurs et équipes opérationnelles pour dire qu’on livre en </a:t>
            </a:r>
            <a:r>
              <a:rPr lang="fr-FR" baseline="0" err="1"/>
              <a:t>DevOps</a:t>
            </a:r>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7</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a:t>Bien que ces méthodologies peuvent servir comme facteur facilitant (catalyseur) pour </a:t>
            </a:r>
            <a:r>
              <a:rPr lang="fr-FR" err="1"/>
              <a:t>DevOps</a:t>
            </a:r>
            <a:r>
              <a:rPr lang="fr-FR" baseline="0"/>
              <a:t>  mais </a:t>
            </a:r>
            <a:r>
              <a:rPr lang="fr-FR" baseline="0" err="1"/>
              <a:t>DevOps</a:t>
            </a:r>
            <a:r>
              <a:rPr lang="fr-FR" baseline="0"/>
              <a:t> ne peut pas être considéré comme une combinaison ou une amélioration de ces méthodologies et techniques pour la simple raison qu’elles n’ont pas été introduites, excepté Agile </a:t>
            </a:r>
            <a:r>
              <a:rPr lang="fr-FR" baseline="0" err="1"/>
              <a:t>Scrum</a:t>
            </a:r>
            <a:r>
              <a:rPr lang="fr-FR" baseline="0"/>
              <a:t>, pour résoudre spécifiquement les problèmes du développement logiciel . </a:t>
            </a:r>
          </a:p>
          <a:p>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8</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a:t>CD est une approche dans </a:t>
            </a:r>
            <a:r>
              <a:rPr lang="fr-FR" err="1"/>
              <a:t>laquelles</a:t>
            </a:r>
            <a:r>
              <a:rPr lang="fr-FR"/>
              <a:t> on</a:t>
            </a:r>
            <a:r>
              <a:rPr lang="fr-FR" baseline="0"/>
              <a:t> développe des logiciels dans des cycles courts </a:t>
            </a:r>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9</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Lean</a:t>
            </a:r>
            <a:r>
              <a:rPr lang="en-US" baseline="0"/>
              <a:t> movement</a:t>
            </a:r>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a:t>- You see the whole and you create customer value with systems thinking. </a:t>
            </a:r>
          </a:p>
          <a:p>
            <a:pPr marL="0" marR="0" indent="0" algn="l" defTabSz="914400" rtl="0" eaLnBrk="1" fontAlgn="auto" latinLnBrk="0" hangingPunct="1">
              <a:lnSpc>
                <a:spcPct val="100000"/>
              </a:lnSpc>
              <a:spcBef>
                <a:spcPts val="0"/>
              </a:spcBef>
              <a:spcAft>
                <a:spcPts val="0"/>
              </a:spcAft>
              <a:buClrTx/>
              <a:buSzTx/>
              <a:buFontTx/>
              <a:buNone/>
              <a:tabLst/>
              <a:defRPr/>
            </a:pPr>
            <a:r>
              <a:rPr lang="en-US"/>
              <a:t>- You build the quality in, you create flow and pull (instead of push). </a:t>
            </a:r>
          </a:p>
          <a:p>
            <a:pPr marL="0" marR="0" indent="0" algn="l" defTabSz="914400" rtl="0" eaLnBrk="1" fontAlgn="auto" latinLnBrk="0" hangingPunct="1">
              <a:lnSpc>
                <a:spcPct val="100000"/>
              </a:lnSpc>
              <a:spcBef>
                <a:spcPts val="0"/>
              </a:spcBef>
              <a:spcAft>
                <a:spcPts val="0"/>
              </a:spcAft>
              <a:buClrTx/>
              <a:buSzTx/>
              <a:buFontTx/>
              <a:buChar char="-"/>
              <a:tabLst/>
              <a:defRPr/>
            </a:pPr>
            <a:r>
              <a:rPr lang="en-US"/>
              <a:t>You deliver as fast as possible (short lead times to convert raw materials into finished products, or in software terms to convert ideas into running benefits and features in production systems). </a:t>
            </a:r>
          </a:p>
          <a:p>
            <a:pPr marL="0" marR="0" indent="0" algn="l" defTabSz="914400" rtl="0" eaLnBrk="1" fontAlgn="auto" latinLnBrk="0" hangingPunct="1">
              <a:lnSpc>
                <a:spcPct val="100000"/>
              </a:lnSpc>
              <a:spcBef>
                <a:spcPts val="0"/>
              </a:spcBef>
              <a:spcAft>
                <a:spcPts val="0"/>
              </a:spcAft>
              <a:buClrTx/>
              <a:buSzTx/>
              <a:buFontTx/>
              <a:buChar char="-"/>
              <a:tabLst/>
              <a:defRPr/>
            </a:pPr>
            <a:r>
              <a:rPr lang="en-US"/>
              <a:t> You decide as late as possible (You give just in time decisions)</a:t>
            </a:r>
            <a:endParaRPr lang="fr-FR"/>
          </a:p>
          <a:p>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10</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a:buFontTx/>
              <a:buChar char="-"/>
            </a:pPr>
            <a:r>
              <a:rPr lang="en-US"/>
              <a:t> You amplify learning and you embrace scientific thinking. </a:t>
            </a:r>
          </a:p>
          <a:p>
            <a:pPr>
              <a:buFontTx/>
              <a:buChar char="-"/>
            </a:pPr>
            <a:r>
              <a:rPr lang="en-US" baseline="0"/>
              <a:t> </a:t>
            </a:r>
            <a:r>
              <a:rPr lang="en-US"/>
              <a:t>You empower your team, you lead with humility and you respect every individual.  </a:t>
            </a:r>
          </a:p>
          <a:p>
            <a:pPr>
              <a:buFontTx/>
              <a:buChar char="-"/>
            </a:pPr>
            <a:r>
              <a:rPr lang="en-US" baseline="0"/>
              <a:t> </a:t>
            </a:r>
            <a:r>
              <a:rPr lang="en-US"/>
              <a:t>You eliminate waste (tools, systems, most importantly your time you may spend for unproductive activities). </a:t>
            </a:r>
          </a:p>
          <a:p>
            <a:pPr>
              <a:buFontTx/>
              <a:buChar char="-"/>
            </a:pPr>
            <a:r>
              <a:rPr lang="en-US"/>
              <a:t> You decide as late as possible (You give just in time decisions)</a:t>
            </a:r>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11</a:t>
            </a:fld>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0" i="0" kern="1200" err="1">
                <a:solidFill>
                  <a:schemeClr val="tx1"/>
                </a:solidFill>
                <a:latin typeface="+mn-lt"/>
                <a:ea typeface="+mn-ea"/>
                <a:cs typeface="+mn-cs"/>
              </a:rPr>
              <a:t>Continuous</a:t>
            </a:r>
            <a:r>
              <a:rPr lang="fr-FR" sz="1200" b="0" i="0" kern="1200">
                <a:solidFill>
                  <a:schemeClr val="tx1"/>
                </a:solidFill>
                <a:latin typeface="+mn-lt"/>
                <a:ea typeface="+mn-ea"/>
                <a:cs typeface="+mn-cs"/>
              </a:rPr>
              <a:t> </a:t>
            </a:r>
            <a:r>
              <a:rPr lang="fr-FR" sz="1200" b="0" i="0" kern="1200" err="1">
                <a:solidFill>
                  <a:schemeClr val="tx1"/>
                </a:solidFill>
                <a:latin typeface="+mn-lt"/>
                <a:ea typeface="+mn-ea"/>
                <a:cs typeface="+mn-cs"/>
              </a:rPr>
              <a:t>Delivery</a:t>
            </a:r>
            <a:r>
              <a:rPr lang="fr-FR" sz="1200" b="0" i="0" kern="1200">
                <a:solidFill>
                  <a:schemeClr val="tx1"/>
                </a:solidFill>
                <a:latin typeface="+mn-lt"/>
                <a:ea typeface="+mn-ea"/>
                <a:cs typeface="+mn-cs"/>
              </a:rPr>
              <a:t> </a:t>
            </a:r>
            <a:r>
              <a:rPr lang="fr-FR" sz="1200" b="0" i="0" kern="1200" err="1">
                <a:solidFill>
                  <a:schemeClr val="tx1"/>
                </a:solidFill>
                <a:latin typeface="+mn-lt"/>
                <a:ea typeface="+mn-ea"/>
                <a:cs typeface="+mn-cs"/>
              </a:rPr>
              <a:t>movement</a:t>
            </a:r>
            <a:endParaRPr lang="fr-FR" sz="1200" b="0" i="0" kern="120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t>You enable continuous delivery through the deployment pipeline. Deployment pipeline has three important missions: visibility, feedback, and continuous deployment. </a:t>
            </a:r>
            <a:endParaRPr lang="fr-FR" sz="1200" b="0" i="0" kern="1200">
              <a:solidFill>
                <a:schemeClr val="tx1"/>
              </a:solidFill>
              <a:latin typeface="+mn-lt"/>
              <a:ea typeface="+mn-ea"/>
              <a:cs typeface="+mn-cs"/>
            </a:endParaRPr>
          </a:p>
          <a:p>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12</a:t>
            </a:fld>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a:t>Visibility – </a:t>
            </a:r>
          </a:p>
          <a:p>
            <a:r>
              <a:rPr lang="en-US"/>
              <a:t>You make all aspects of the delivery system including building, deploying, testing, and releasing visible to every member of your team and other teams, so you promote collaboration in your team, and you offer transparency to your clients and stakeholders. </a:t>
            </a:r>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13</a:t>
            </a:fld>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a:t>Feedback - You and your team members learn about problems as soon as they occur so that you’re able to quickly fix them before you put another brick onto an already collapsed block. </a:t>
            </a:r>
          </a:p>
          <a:p>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a:t>Continuous Deployment - You deploy and release any version of the software to any environment including test and production environments through a fully automated process. </a:t>
            </a:r>
            <a:endParaRPr lang="fr-FR"/>
          </a:p>
          <a:p>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14</a:t>
            </a:fld>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a:t>Toyota Improvement </a:t>
            </a:r>
            <a:r>
              <a:rPr lang="en-US" err="1"/>
              <a:t>Kata</a:t>
            </a:r>
            <a:r>
              <a:rPr lang="en-US"/>
              <a:t>:</a:t>
            </a:r>
          </a:p>
          <a:p>
            <a:r>
              <a:rPr lang="en-US"/>
              <a:t>You use Toyota improvement </a:t>
            </a:r>
            <a:r>
              <a:rPr lang="en-US" err="1"/>
              <a:t>kata</a:t>
            </a:r>
            <a:r>
              <a:rPr lang="en-US"/>
              <a:t> as a routine to move from the current situation to a new situation in a creative, directed, meaningful way. </a:t>
            </a:r>
          </a:p>
          <a:p>
            <a:endParaRPr lang="en-US"/>
          </a:p>
          <a:p>
            <a:r>
              <a:rPr lang="en-US"/>
              <a:t>It’s based on a four-part model:</a:t>
            </a:r>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15</a:t>
            </a:fld>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a:p>
          <a:p>
            <a:pPr marL="228600" indent="-228600">
              <a:buAutoNum type="arabicPeriod"/>
            </a:pPr>
            <a:r>
              <a:rPr lang="en-US"/>
              <a:t>In your consideration of a greater vision or improved direction... </a:t>
            </a:r>
          </a:p>
          <a:p>
            <a:pPr marL="228600" indent="-228600">
              <a:buAutoNum type="arabicPeriod"/>
            </a:pPr>
            <a:r>
              <a:rPr lang="en-US"/>
              <a:t>You grasp the current conditions. </a:t>
            </a:r>
          </a:p>
          <a:p>
            <a:pPr marL="228600" indent="-228600">
              <a:buAutoNum type="arabicPeriod"/>
            </a:pPr>
            <a:r>
              <a:rPr lang="en-US"/>
              <a:t>Then you define the next target conditions. </a:t>
            </a:r>
          </a:p>
          <a:p>
            <a:pPr marL="228600" indent="-228600">
              <a:buAutoNum type="arabicPeriod"/>
            </a:pPr>
            <a:r>
              <a:rPr lang="en-US"/>
              <a:t> Ultimately, you continuously and iteratively attempt to move toward that target condition. Along this route you uncover obstacles that need to be worked on and you sort them out. </a:t>
            </a:r>
            <a:endParaRPr lang="fr-FR"/>
          </a:p>
          <a:p>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16</a:t>
            </a:fld>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a:t>In contrast to other improvement approaches that you attempted to predict the path and focus on implementation, with Toyota improvement </a:t>
            </a:r>
            <a:r>
              <a:rPr lang="en-US" err="1"/>
              <a:t>kata</a:t>
            </a:r>
            <a:r>
              <a:rPr lang="en-US"/>
              <a:t> you learn and build on discovery that occurs along the way. You and your teams use the Toyota improvement </a:t>
            </a:r>
            <a:r>
              <a:rPr lang="en-US" err="1"/>
              <a:t>kata</a:t>
            </a:r>
            <a:r>
              <a:rPr lang="en-US"/>
              <a:t> to learn as you strive to reach a target condition, and you adapt based on what you’re learning. </a:t>
            </a:r>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17</a:t>
            </a:fld>
            <a:endParaRPr 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a:t>Theory of Constraints:</a:t>
            </a:r>
          </a:p>
          <a:p>
            <a:r>
              <a:rPr lang="en-US"/>
              <a:t>In an organization including yours which delivers any kind of software, there is always an ongoing conflict between your IT and your business. Quickly responding business needs whereas still ensuring stable and predictable production environments is a continuous tradeoff faced by your IT. </a:t>
            </a:r>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18</a:t>
            </a:fld>
            <a:endParaRPr lang="fr-F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a:t>Assuming that you’re already fully aware that there isn’t no risk production release, in a complex system like yours you can’t be quick enough if you want to ensure a low risk production release. And you can’t ensure a low risk release if you want to quickly release your code to your production systems. </a:t>
            </a:r>
          </a:p>
          <a:p>
            <a:endParaRPr lang="en-US"/>
          </a:p>
          <a:p>
            <a:r>
              <a:rPr lang="en-US"/>
              <a:t>You cope with this conflict when: </a:t>
            </a:r>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19</a:t>
            </a:fld>
            <a:endParaRPr lang="fr-F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a:t>You cope with this conflict when: </a:t>
            </a:r>
          </a:p>
          <a:p>
            <a:pPr>
              <a:buFontTx/>
              <a:buChar char="-"/>
            </a:pPr>
            <a:r>
              <a:rPr lang="en-US"/>
              <a:t> You divide your IT organization into many small, autonomous, independent, self-sufficient and highly collaborative teams (You should start to see your teams as “intelligent units” with mission). </a:t>
            </a:r>
          </a:p>
          <a:p>
            <a:pPr>
              <a:buFontTx/>
              <a:buChar char="-"/>
            </a:pPr>
            <a:r>
              <a:rPr lang="en-US"/>
              <a:t> You reduce your batch size (the size of your work in progress) given to each team. </a:t>
            </a:r>
          </a:p>
          <a:p>
            <a:pPr>
              <a:buFontTx/>
              <a:buChar char="-"/>
            </a:pPr>
            <a:r>
              <a:rPr lang="en-US"/>
              <a:t> You reduce your lead time (time required to convert ideas and requirements into running benefits and features in production systems). </a:t>
            </a:r>
          </a:p>
          <a:p>
            <a:pPr>
              <a:buFontTx/>
              <a:buChar char="-"/>
            </a:pPr>
            <a:r>
              <a:rPr lang="en-US"/>
              <a:t> You build faster, reliable and continuous feedback loops to ensure readiness for deployment. </a:t>
            </a:r>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20</a:t>
            </a:fld>
            <a:endParaRPr lang="fr-F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a:buFontTx/>
              <a:buChar char="-"/>
            </a:pPr>
            <a:r>
              <a:rPr lang="en-US"/>
              <a:t> You reduce your lead time (time required to convert ideas and requirements into running benefits and features in production systems). </a:t>
            </a:r>
          </a:p>
          <a:p>
            <a:pPr>
              <a:buFontTx/>
              <a:buChar char="-"/>
            </a:pPr>
            <a:r>
              <a:rPr lang="en-US"/>
              <a:t> You build faster, reliable and continuous feedback loops to ensure readiness for deployment. </a:t>
            </a:r>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21</a:t>
            </a:fld>
            <a:endParaRPr lang="fr-F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Agile Manifesto: </a:t>
            </a:r>
          </a:p>
          <a:p>
            <a:pPr marL="0" marR="0" indent="0" algn="l" defTabSz="914400" rtl="0" eaLnBrk="1" fontAlgn="auto" latinLnBrk="0" hangingPunct="1">
              <a:lnSpc>
                <a:spcPct val="100000"/>
              </a:lnSpc>
              <a:spcBef>
                <a:spcPts val="0"/>
              </a:spcBef>
              <a:spcAft>
                <a:spcPts val="0"/>
              </a:spcAft>
              <a:buClrTx/>
              <a:buSzTx/>
              <a:buFontTx/>
              <a:buNone/>
              <a:tabLst/>
              <a:defRPr/>
            </a:pPr>
            <a:r>
              <a:rPr lang="en-US"/>
              <a:t>With </a:t>
            </a:r>
            <a:r>
              <a:rPr lang="en-US" err="1"/>
              <a:t>DevOps</a:t>
            </a:r>
            <a:r>
              <a:rPr lang="en-US"/>
              <a:t> you adhere to the cornerstones defined by the agile manifesto: </a:t>
            </a:r>
          </a:p>
          <a:p>
            <a:pPr marL="0" marR="0" indent="0" algn="l" defTabSz="914400" rtl="0" eaLnBrk="1" fontAlgn="auto" latinLnBrk="0" hangingPunct="1">
              <a:lnSpc>
                <a:spcPct val="100000"/>
              </a:lnSpc>
              <a:spcBef>
                <a:spcPts val="0"/>
              </a:spcBef>
              <a:spcAft>
                <a:spcPts val="0"/>
              </a:spcAft>
              <a:buClrTx/>
              <a:buSzTx/>
              <a:buFontTx/>
              <a:buNone/>
              <a:tabLst/>
              <a:defRPr/>
            </a:pPr>
            <a:r>
              <a:rPr lang="en-US"/>
              <a:t>• You respect individuals and interactions over processes and tools.</a:t>
            </a:r>
          </a:p>
          <a:p>
            <a:pPr marL="0" marR="0" indent="0" algn="l" defTabSz="914400" rtl="0" eaLnBrk="1" fontAlgn="auto" latinLnBrk="0" hangingPunct="1">
              <a:lnSpc>
                <a:spcPct val="100000"/>
              </a:lnSpc>
              <a:spcBef>
                <a:spcPts val="0"/>
              </a:spcBef>
              <a:spcAft>
                <a:spcPts val="0"/>
              </a:spcAft>
              <a:buClrTx/>
              <a:buSzTx/>
              <a:buFontTx/>
              <a:buNone/>
              <a:tabLst/>
              <a:defRPr/>
            </a:pPr>
            <a:r>
              <a:rPr lang="en-US"/>
              <a:t>• You respect working software over comprehensive documentation. </a:t>
            </a:r>
          </a:p>
          <a:p>
            <a:pPr marL="0" marR="0" indent="0" algn="l" defTabSz="914400" rtl="0" eaLnBrk="1" fontAlgn="auto" latinLnBrk="0" hangingPunct="1">
              <a:lnSpc>
                <a:spcPct val="100000"/>
              </a:lnSpc>
              <a:spcBef>
                <a:spcPts val="0"/>
              </a:spcBef>
              <a:spcAft>
                <a:spcPts val="0"/>
              </a:spcAft>
              <a:buClrTx/>
              <a:buSzTx/>
              <a:buFontTx/>
              <a:buNone/>
              <a:tabLst/>
              <a:defRPr/>
            </a:pPr>
            <a:r>
              <a:rPr lang="en-US"/>
              <a:t>• You respect customer collaboration over contract terms and negotiation. </a:t>
            </a:r>
          </a:p>
          <a:p>
            <a:pPr marL="0" marR="0" indent="0" algn="l" defTabSz="914400" rtl="0" eaLnBrk="1" fontAlgn="auto" latinLnBrk="0" hangingPunct="1">
              <a:lnSpc>
                <a:spcPct val="100000"/>
              </a:lnSpc>
              <a:spcBef>
                <a:spcPts val="0"/>
              </a:spcBef>
              <a:spcAft>
                <a:spcPts val="0"/>
              </a:spcAft>
              <a:buClrTx/>
              <a:buSzTx/>
              <a:buFontTx/>
              <a:buNone/>
              <a:tabLst/>
              <a:defRPr/>
            </a:pPr>
            <a:r>
              <a:rPr lang="en-US"/>
              <a:t>• You respect responding to change over following a plan. </a:t>
            </a:r>
            <a:endParaRPr lang="fr-FR"/>
          </a:p>
          <a:p>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22</a:t>
            </a:fld>
            <a:endParaRPr lang="fr-F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a:t>Agile Infrastructure: </a:t>
            </a:r>
          </a:p>
          <a:p>
            <a:r>
              <a:rPr lang="en-US"/>
              <a:t>Our organizations large and small including probably yours are relying on hybrid cloud infrastructures, combining public and private cloud with dedicated servers. Therefore, you collect the rewards of </a:t>
            </a:r>
            <a:r>
              <a:rPr lang="en-US" err="1"/>
              <a:t>colocation</a:t>
            </a:r>
            <a:r>
              <a:rPr lang="en-US"/>
              <a:t> security in combination with the flexibility and scalability of public cloud. Here’s some of major drivers why an agile infrastructure is beneficial for </a:t>
            </a:r>
            <a:r>
              <a:rPr lang="en-US" err="1"/>
              <a:t>DevOps</a:t>
            </a:r>
            <a:r>
              <a:rPr lang="en-US"/>
              <a:t>: </a:t>
            </a:r>
          </a:p>
          <a:p>
            <a:r>
              <a:rPr lang="en-US"/>
              <a:t>•</a:t>
            </a:r>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23</a:t>
            </a:fld>
            <a:endParaRPr lang="fr-F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a:t>• You pay for what you use with transparent and simple pricing. </a:t>
            </a:r>
          </a:p>
          <a:p>
            <a:r>
              <a:rPr lang="en-US"/>
              <a:t>• You can quickly provision and de-provision your test and production environments from your code base (</a:t>
            </a:r>
            <a:r>
              <a:rPr lang="en-US" err="1"/>
              <a:t>IaC</a:t>
            </a:r>
            <a:r>
              <a:rPr lang="en-US"/>
              <a:t> - Infrastructure as Code). </a:t>
            </a:r>
          </a:p>
          <a:p>
            <a:r>
              <a:rPr lang="en-US"/>
              <a:t>•. You have architectural flexibility</a:t>
            </a:r>
          </a:p>
          <a:p>
            <a:r>
              <a:rPr lang="en-US"/>
              <a:t>• You can easily expand other geographies. </a:t>
            </a:r>
          </a:p>
          <a:p>
            <a:r>
              <a:rPr lang="en-US"/>
              <a:t>• You probably have better security. </a:t>
            </a:r>
            <a:endParaRPr lang="fr-FR"/>
          </a:p>
          <a:p>
            <a:r>
              <a:rPr lang="en-US"/>
              <a:t>• You stay compliant without audits and additional costs. </a:t>
            </a:r>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24</a:t>
            </a:fld>
            <a:endParaRPr lang="fr-F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a:t>CONCLUSION </a:t>
            </a:r>
          </a:p>
          <a:p>
            <a:r>
              <a:rPr lang="en-US"/>
              <a:t>In this section we explained you what </a:t>
            </a:r>
            <a:r>
              <a:rPr lang="en-US" err="1"/>
              <a:t>DevOps</a:t>
            </a:r>
            <a:r>
              <a:rPr lang="en-US"/>
              <a:t> is and what it isn’t. For you we have also covered the major movements and principles which </a:t>
            </a:r>
            <a:r>
              <a:rPr lang="en-US" err="1"/>
              <a:t>DevOps</a:t>
            </a:r>
            <a:r>
              <a:rPr lang="en-US"/>
              <a:t> was derived from. A small caveat: Like many agile practitioners have been unfortunately doing in their agile practices since years, you shouldn’t stick to any stone-grained definition of </a:t>
            </a:r>
            <a:r>
              <a:rPr lang="en-US" err="1"/>
              <a:t>DevOps</a:t>
            </a:r>
            <a:r>
              <a:rPr lang="en-US"/>
              <a:t> to dictate how your particular organization, your product, your service and most importantly your team should use </a:t>
            </a:r>
            <a:r>
              <a:rPr lang="en-US" err="1"/>
              <a:t>DevOps</a:t>
            </a:r>
            <a:r>
              <a:rPr lang="en-US"/>
              <a:t>.</a:t>
            </a:r>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25</a:t>
            </a:fld>
            <a:endParaRPr lang="fr-F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There is no one-size-fits-all solution. Neither in agile nor in </a:t>
            </a:r>
            <a:r>
              <a:rPr lang="en-US" err="1"/>
              <a:t>DevOps</a:t>
            </a:r>
            <a:r>
              <a:rPr lang="en-US"/>
              <a:t>. Never forget that it is all about learning, experimentation and adaptation. As </a:t>
            </a:r>
            <a:r>
              <a:rPr lang="en-US" err="1"/>
              <a:t>DevOps</a:t>
            </a:r>
            <a:r>
              <a:rPr lang="en-US"/>
              <a:t> will do a lot of good work for us, it is our role biggest duty as human minds to identify our correct version and tone of </a:t>
            </a:r>
            <a:r>
              <a:rPr lang="en-US" err="1"/>
              <a:t>DevOps</a:t>
            </a:r>
            <a:r>
              <a:rPr lang="en-US"/>
              <a:t>. This is what each and every successful </a:t>
            </a:r>
            <a:r>
              <a:rPr lang="en-US" err="1"/>
              <a:t>DevOps</a:t>
            </a:r>
            <a:r>
              <a:rPr lang="en-US"/>
              <a:t> organization including Google, Amazon, </a:t>
            </a:r>
            <a:r>
              <a:rPr lang="en-US" err="1"/>
              <a:t>Facebook</a:t>
            </a:r>
            <a:r>
              <a:rPr lang="en-US"/>
              <a:t>, Netflix and Apple have been doing.</a:t>
            </a:r>
            <a:endParaRPr lang="fr-FR"/>
          </a:p>
          <a:p>
            <a:endParaRPr lang="fr-FR"/>
          </a:p>
        </p:txBody>
      </p:sp>
      <p:sp>
        <p:nvSpPr>
          <p:cNvPr id="4" name="Espace réservé du numéro de diapositive 3"/>
          <p:cNvSpPr>
            <a:spLocks noGrp="1"/>
          </p:cNvSpPr>
          <p:nvPr>
            <p:ph type="sldNum" sz="quarter" idx="10"/>
          </p:nvPr>
        </p:nvSpPr>
        <p:spPr/>
        <p:txBody>
          <a:bodyPr/>
          <a:lstStyle/>
          <a:p>
            <a:fld id="{94DBDE40-FF17-4E3D-A265-7330CEB96481}" type="slidenum">
              <a:rPr lang="fr-FR" smtClean="0"/>
              <a:pPr/>
              <a:t>26</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10" name="Triangle rect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r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fr-FR"/>
              <a:t>Cliquez pour modifier le style du titre</a:t>
            </a:r>
            <a:endParaRPr kumimoji="0" lang="en-US"/>
          </a:p>
        </p:txBody>
      </p:sp>
      <p:sp>
        <p:nvSpPr>
          <p:cNvPr id="17" name="Sous-titr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fr-FR"/>
              <a:t>Cliquez pour modifier le style des sous-titres du masque</a:t>
            </a:r>
            <a:endParaRPr kumimoji="0" lang="en-US"/>
          </a:p>
        </p:txBody>
      </p:sp>
      <p:grpSp>
        <p:nvGrpSpPr>
          <p:cNvPr id="2" name="Groupe 1"/>
          <p:cNvGrpSpPr/>
          <p:nvPr/>
        </p:nvGrpSpPr>
        <p:grpSpPr>
          <a:xfrm>
            <a:off x="-3765" y="4953000"/>
            <a:ext cx="9147765" cy="1912088"/>
            <a:chOff x="-3765" y="4832896"/>
            <a:chExt cx="9147765" cy="2032192"/>
          </a:xfrm>
        </p:grpSpPr>
        <p:sp>
          <p:nvSpPr>
            <p:cNvPr id="7" name="Forme libre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orme libre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orme libre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Connecteur droit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Espace réservé de la date 29"/>
          <p:cNvSpPr>
            <a:spLocks noGrp="1"/>
          </p:cNvSpPr>
          <p:nvPr>
            <p:ph type="dt" sz="half" idx="10"/>
          </p:nvPr>
        </p:nvSpPr>
        <p:spPr/>
        <p:txBody>
          <a:bodyPr/>
          <a:lstStyle>
            <a:lvl1pPr>
              <a:defRPr>
                <a:solidFill>
                  <a:srgbClr val="FFFFFF"/>
                </a:solidFill>
              </a:defRPr>
            </a:lvl1pPr>
            <a:extLst/>
          </a:lstStyle>
          <a:p>
            <a:fld id="{C1AE5ABC-D6D4-4E72-AB56-2B6FB1BAFEB3}" type="datetimeFigureOut">
              <a:rPr lang="fr-FR" smtClean="0"/>
              <a:pPr/>
              <a:t>19/06/2021</a:t>
            </a:fld>
            <a:endParaRPr lang="fr-FR"/>
          </a:p>
        </p:txBody>
      </p:sp>
      <p:sp>
        <p:nvSpPr>
          <p:cNvPr id="19" name="Espace réservé du pied de page 18"/>
          <p:cNvSpPr>
            <a:spLocks noGrp="1"/>
          </p:cNvSpPr>
          <p:nvPr>
            <p:ph type="ftr" sz="quarter" idx="11"/>
          </p:nvPr>
        </p:nvSpPr>
        <p:spPr/>
        <p:txBody>
          <a:bodyPr/>
          <a:lstStyle>
            <a:lvl1pPr>
              <a:defRPr>
                <a:solidFill>
                  <a:schemeClr val="accent1">
                    <a:tint val="20000"/>
                  </a:schemeClr>
                </a:solidFill>
              </a:defRPr>
            </a:lvl1pPr>
            <a:extLst/>
          </a:lstStyle>
          <a:p>
            <a:endParaRPr lang="fr-FR"/>
          </a:p>
        </p:txBody>
      </p:sp>
      <p:sp>
        <p:nvSpPr>
          <p:cNvPr id="27" name="Espace réservé du numéro de diapositive 26"/>
          <p:cNvSpPr>
            <a:spLocks noGrp="1"/>
          </p:cNvSpPr>
          <p:nvPr>
            <p:ph type="sldNum" sz="quarter" idx="12"/>
          </p:nvPr>
        </p:nvSpPr>
        <p:spPr/>
        <p:txBody>
          <a:bodyPr/>
          <a:lstStyle>
            <a:lvl1pPr>
              <a:defRPr>
                <a:solidFill>
                  <a:srgbClr val="FFFFFF"/>
                </a:solidFill>
              </a:defRPr>
            </a:lvl1pPr>
            <a:extLst/>
          </a:lstStyle>
          <a:p>
            <a:fld id="{1B1CB0AF-79B6-4E18-AB12-0E01F827F89B}" type="slidenum">
              <a:rPr lang="fr-FR" smtClean="0"/>
              <a:pPr/>
              <a:t>‹#›</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C1AE5ABC-D6D4-4E72-AB56-2B6FB1BAFEB3}" type="datetimeFigureOut">
              <a:rPr lang="fr-FR" smtClean="0"/>
              <a:pPr/>
              <a:t>19/06/2021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B1CB0AF-79B6-4E18-AB12-0E01F827F89B}" type="slidenum">
              <a:rPr lang="fr-FR" smtClean="0"/>
              <a:pPr/>
              <a:t>‹#›</a:t>
            </a:fld>
            <a:endParaRPr lang="fr-FR"/>
          </a:p>
        </p:txBody>
      </p:sp>
      <p:sp>
        <p:nvSpPr>
          <p:cNvPr id="7" name="Titre 6"/>
          <p:cNvSpPr>
            <a:spLocks noGrp="1"/>
          </p:cNvSpPr>
          <p:nvPr>
            <p:ph type="title"/>
          </p:nvPr>
        </p:nvSpPr>
        <p:spPr/>
        <p:txBody>
          <a:bodyPr rtlCol="0"/>
          <a:lstStyle/>
          <a:p>
            <a:r>
              <a:rPr kumimoji="0" lang="fr-FR"/>
              <a:t>Cliquez pour modifier le style du titre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2">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fr-FR"/>
              <a:t>Cliquez pour modifier le style du titre</a:t>
            </a:r>
            <a:endParaRPr kumimoji="0" lang="en-US"/>
          </a:p>
        </p:txBody>
      </p:sp>
      <p:sp>
        <p:nvSpPr>
          <p:cNvPr id="3" name="Espace réservé du texte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fr-FR"/>
              <a:t>Cliquez pour modifier les styles du texte du masque</a:t>
            </a:r>
          </a:p>
        </p:txBody>
      </p:sp>
      <p:sp>
        <p:nvSpPr>
          <p:cNvPr id="4" name="Espace réservé de la date 3"/>
          <p:cNvSpPr>
            <a:spLocks noGrp="1"/>
          </p:cNvSpPr>
          <p:nvPr>
            <p:ph type="dt" sz="half" idx="10"/>
          </p:nvPr>
        </p:nvSpPr>
        <p:spPr/>
        <p:txBody>
          <a:bodyPr/>
          <a:lstStyle/>
          <a:p>
            <a:fld id="{C1AE5ABC-D6D4-4E72-AB56-2B6FB1BAFEB3}" type="datetimeFigureOut">
              <a:rPr lang="fr-FR" smtClean="0"/>
              <a:pPr/>
              <a:t>19/06/2021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B1CB0AF-79B6-4E18-AB12-0E01F827F89B}" type="slidenum">
              <a:rPr lang="fr-FR" smtClean="0"/>
              <a:pPr/>
              <a:t>‹#›</a:t>
            </a:fld>
            <a:endParaRPr lang="fr-FR"/>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2">
        <a:schemeClr val="bg1"/>
      </p:bgRef>
    </p:bg>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u contenu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C1AE5ABC-D6D4-4E72-AB56-2B6FB1BAFEB3}" type="datetimeFigureOut">
              <a:rPr lang="fr-FR" smtClean="0"/>
              <a:pPr/>
              <a:t>19/06/2021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B1CB0AF-79B6-4E18-AB12-0E01F827F89B}" type="slidenum">
              <a:rPr lang="fr-FR" smtClean="0"/>
              <a:pPr/>
              <a:t>‹#›</a:t>
            </a:fld>
            <a:endParaRPr lang="fr-FR"/>
          </a:p>
        </p:txBody>
      </p:sp>
      <p:sp>
        <p:nvSpPr>
          <p:cNvPr id="8" name="Titre 7"/>
          <p:cNvSpPr>
            <a:spLocks noGrp="1"/>
          </p:cNvSpPr>
          <p:nvPr>
            <p:ph type="title"/>
          </p:nvPr>
        </p:nvSpPr>
        <p:spPr/>
        <p:txBody>
          <a:bodyPr rtlCol="0"/>
          <a:lstStyle/>
          <a:p>
            <a:r>
              <a:rPr kumimoji="0" lang="fr-FR"/>
              <a:t>Cliquez pour modifier le style du titre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3">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nchor="ctr"/>
          <a:lstStyle>
            <a:lvl1pPr>
              <a:defRPr/>
            </a:lvl1pPr>
            <a:extLst/>
          </a:lstStyle>
          <a:p>
            <a:r>
              <a:rPr kumimoji="0" lang="fr-FR"/>
              <a:t>Cliquez pour modifier le style du titre</a:t>
            </a:r>
            <a:endParaRPr kumimoji="0" lang="en-US"/>
          </a:p>
        </p:txBody>
      </p:sp>
      <p:sp>
        <p:nvSpPr>
          <p:cNvPr id="3" name="Espace réservé du texte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a:t>Cliquez pour modifier les styles du texte du masque</a:t>
            </a:r>
          </a:p>
        </p:txBody>
      </p:sp>
      <p:sp>
        <p:nvSpPr>
          <p:cNvPr id="5" name="Espace réservé du contenu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6" name="Espace réservé du contenu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7" name="Espace réservé de la date 6"/>
          <p:cNvSpPr>
            <a:spLocks noGrp="1"/>
          </p:cNvSpPr>
          <p:nvPr>
            <p:ph type="dt" sz="half" idx="10"/>
          </p:nvPr>
        </p:nvSpPr>
        <p:spPr/>
        <p:txBody>
          <a:bodyPr/>
          <a:lstStyle/>
          <a:p>
            <a:fld id="{C1AE5ABC-D6D4-4E72-AB56-2B6FB1BAFEB3}" type="datetimeFigureOut">
              <a:rPr lang="fr-FR" smtClean="0"/>
              <a:pPr/>
              <a:t>19/06/2021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B1CB0AF-79B6-4E18-AB12-0E01F827F89B}" type="slidenum">
              <a:rPr lang="fr-FR" smtClean="0"/>
              <a:pPr/>
              <a:t>‹#›</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bg>
      <p:bgRef idx="1002">
        <a:schemeClr val="bg1"/>
      </p:bgRef>
    </p:bg>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a:lstStyle/>
          <a:p>
            <a:fld id="{C1AE5ABC-D6D4-4E72-AB56-2B6FB1BAFEB3}" type="datetimeFigureOut">
              <a:rPr lang="fr-FR" smtClean="0"/>
              <a:pPr/>
              <a:t>19/06/2021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B1CB0AF-79B6-4E18-AB12-0E01F827F89B}" type="slidenum">
              <a:rPr lang="fr-FR" smtClean="0"/>
              <a:pPr/>
              <a:t>‹#›</a:t>
            </a:fld>
            <a:endParaRPr lang="fr-FR"/>
          </a:p>
        </p:txBody>
      </p:sp>
      <p:sp>
        <p:nvSpPr>
          <p:cNvPr id="6" name="Titre 5"/>
          <p:cNvSpPr>
            <a:spLocks noGrp="1"/>
          </p:cNvSpPr>
          <p:nvPr>
            <p:ph type="title"/>
          </p:nvPr>
        </p:nvSpPr>
        <p:spPr/>
        <p:txBody>
          <a:bodyPr rtlCol="0"/>
          <a:lstStyle/>
          <a:p>
            <a:r>
              <a:rPr kumimoji="0" lang="fr-FR"/>
              <a:t>Cliquez pour modifier le style du titre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1AE5ABC-D6D4-4E72-AB56-2B6FB1BAFEB3}" type="datetimeFigureOut">
              <a:rPr lang="fr-FR" smtClean="0"/>
              <a:pPr/>
              <a:t>19/06/2021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B1CB0AF-79B6-4E18-AB12-0E01F827F89B}" type="slidenum">
              <a:rPr lang="fr-FR" smtClean="0"/>
              <a:pPr/>
              <a:t>‹#›</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3">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fr-FR"/>
              <a:t>Cliquez pour modifier le style du titre</a:t>
            </a:r>
            <a:endParaRPr kumimoji="0" lang="en-US"/>
          </a:p>
        </p:txBody>
      </p:sp>
      <p:sp>
        <p:nvSpPr>
          <p:cNvPr id="3" name="Espace réservé du texte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fr-FR"/>
              <a:t>Cliquez pour modifier les styles du texte du masque</a:t>
            </a:r>
          </a:p>
        </p:txBody>
      </p:sp>
      <p:sp>
        <p:nvSpPr>
          <p:cNvPr id="4" name="Espace réservé du contenu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a:xfrm>
            <a:off x="6727032" y="6407944"/>
            <a:ext cx="1920240" cy="365760"/>
          </a:xfrm>
        </p:spPr>
        <p:txBody>
          <a:bodyPr/>
          <a:lstStyle/>
          <a:p>
            <a:fld id="{C1AE5ABC-D6D4-4E72-AB56-2B6FB1BAFEB3}" type="datetimeFigureOut">
              <a:rPr lang="fr-FR" smtClean="0"/>
              <a:pPr/>
              <a:t>19/06/2021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B1CB0AF-79B6-4E18-AB12-0E01F827F89B}" type="slidenum">
              <a:rPr lang="fr-FR" smtClean="0"/>
              <a:pPr/>
              <a:t>‹#›</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2">
        <a:schemeClr val="bg1"/>
      </p:bgRef>
    </p:bg>
    <p:spTree>
      <p:nvGrpSpPr>
        <p:cNvPr id="1" name=""/>
        <p:cNvGrpSpPr/>
        <p:nvPr/>
      </p:nvGrpSpPr>
      <p:grpSpPr>
        <a:xfrm>
          <a:off x="0" y="0"/>
          <a:ext cx="0" cy="0"/>
          <a:chOff x="0" y="0"/>
          <a:chExt cx="0" cy="0"/>
        </a:xfrm>
      </p:grpSpPr>
      <p:sp>
        <p:nvSpPr>
          <p:cNvPr id="4" name="Espace réservé du texte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fr-FR"/>
              <a:t>Cliquez pour modifier les styles du texte du masque</a:t>
            </a:r>
          </a:p>
        </p:txBody>
      </p:sp>
      <p:sp>
        <p:nvSpPr>
          <p:cNvPr id="3" name="Espace réservé pour une image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fr-FR"/>
              <a:t>Cliquez sur l'icône pour ajouter une image</a:t>
            </a:r>
            <a:endParaRPr kumimoji="0" lang="en-US"/>
          </a:p>
        </p:txBody>
      </p:sp>
      <p:sp>
        <p:nvSpPr>
          <p:cNvPr id="5" name="Espace réservé de la date 4"/>
          <p:cNvSpPr>
            <a:spLocks noGrp="1"/>
          </p:cNvSpPr>
          <p:nvPr>
            <p:ph type="dt" sz="half" idx="10"/>
          </p:nvPr>
        </p:nvSpPr>
        <p:spPr/>
        <p:txBody>
          <a:bodyPr/>
          <a:lstStyle>
            <a:lvl1pPr>
              <a:defRPr>
                <a:solidFill>
                  <a:schemeClr val="tx1"/>
                </a:solidFill>
              </a:defRPr>
            </a:lvl1pPr>
            <a:extLst/>
          </a:lstStyle>
          <a:p>
            <a:fld id="{C1AE5ABC-D6D4-4E72-AB56-2B6FB1BAFEB3}" type="datetimeFigureOut">
              <a:rPr lang="fr-FR" smtClean="0"/>
              <a:pPr/>
              <a:t>19/06/2021</a:t>
            </a:fld>
            <a:endParaRPr lang="fr-FR"/>
          </a:p>
        </p:txBody>
      </p:sp>
      <p:sp>
        <p:nvSpPr>
          <p:cNvPr id="6" name="Espace réservé du pied de page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fr-FR"/>
          </a:p>
        </p:txBody>
      </p:sp>
      <p:sp>
        <p:nvSpPr>
          <p:cNvPr id="7" name="Espace réservé du numéro de diapositive 6"/>
          <p:cNvSpPr>
            <a:spLocks noGrp="1"/>
          </p:cNvSpPr>
          <p:nvPr>
            <p:ph type="sldNum" sz="quarter" idx="12"/>
          </p:nvPr>
        </p:nvSpPr>
        <p:spPr/>
        <p:txBody>
          <a:bodyPr/>
          <a:lstStyle>
            <a:lvl1pPr>
              <a:defRPr>
                <a:solidFill>
                  <a:schemeClr val="tx1"/>
                </a:solidFill>
              </a:defRPr>
            </a:lvl1pPr>
            <a:extLst/>
          </a:lstStyle>
          <a:p>
            <a:fld id="{1B1CB0AF-79B6-4E18-AB12-0E01F827F89B}" type="slidenum">
              <a:rPr lang="fr-FR" smtClean="0"/>
              <a:pPr/>
              <a:t>‹#›</a:t>
            </a:fld>
            <a:endParaRPr lang="fr-FR"/>
          </a:p>
        </p:txBody>
      </p:sp>
      <p:sp>
        <p:nvSpPr>
          <p:cNvPr id="2" name="Titr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fr-FR"/>
              <a:t>Cliquez pour modifier le style du titre</a:t>
            </a:r>
            <a:endParaRPr kumimoji="0" lang="en-US"/>
          </a:p>
        </p:txBody>
      </p:sp>
      <p:sp>
        <p:nvSpPr>
          <p:cNvPr id="8" name="Forme libre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orme libre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Triangle rect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Connecteur droit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457200" y="1481329"/>
            <a:ext cx="8229600" cy="4386071"/>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C1AE5ABC-D6D4-4E72-AB56-2B6FB1BAFEB3}" type="datetimeFigureOut">
              <a:rPr lang="fr-FR" smtClean="0"/>
              <a:pPr/>
              <a:t>19/06/2021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B1CB0AF-79B6-4E18-AB12-0E01F827F89B}" type="slidenum">
              <a:rPr lang="fr-FR" smtClean="0"/>
              <a:pPr/>
              <a:t>‹#›</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844013" y="274640"/>
            <a:ext cx="1777470" cy="5592761"/>
          </a:xfrm>
        </p:spPr>
        <p:txBody>
          <a:bodyPr vert="eaVert"/>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457200" y="274641"/>
            <a:ext cx="6324600" cy="5592760"/>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C1AE5ABC-D6D4-4E72-AB56-2B6FB1BAFEB3}" type="datetimeFigureOut">
              <a:rPr lang="fr-FR" smtClean="0"/>
              <a:pPr/>
              <a:t>19/06/2021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B1CB0AF-79B6-4E18-AB12-0E01F827F89B}" type="slidenum">
              <a:rPr lang="fr-FR" smtClean="0"/>
              <a:pPr/>
              <a:t>‹#›</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orme libre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orme libre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Triangle rect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Connecteur droit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Espace réservé du titre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fr-FR"/>
              <a:t>Cliquez pour modifier le style du titre</a:t>
            </a:r>
            <a:endParaRPr kumimoji="0" lang="en-US"/>
          </a:p>
        </p:txBody>
      </p:sp>
      <p:sp>
        <p:nvSpPr>
          <p:cNvPr id="30" name="Espace réservé du texte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10" name="Espace réservé de la date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C1AE5ABC-D6D4-4E72-AB56-2B6FB1BAFEB3}" type="datetimeFigureOut">
              <a:rPr lang="fr-FR" smtClean="0"/>
              <a:pPr/>
              <a:t>19/06/2021</a:t>
            </a:fld>
            <a:endParaRPr lang="fr-FR"/>
          </a:p>
        </p:txBody>
      </p:sp>
      <p:sp>
        <p:nvSpPr>
          <p:cNvPr id="22" name="Espace réservé du pied de page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fr-FR"/>
          </a:p>
        </p:txBody>
      </p:sp>
      <p:sp>
        <p:nvSpPr>
          <p:cNvPr id="18" name="Espace réservé du numéro de diapositive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1B1CB0AF-79B6-4E18-AB12-0E01F827F89B}" type="slidenum">
              <a:rPr lang="fr-FR" smtClean="0"/>
              <a:pPr/>
              <a:t>‹#›</a:t>
            </a:fld>
            <a:endParaRPr lang="fr-F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err="1"/>
              <a:t>DevOps</a:t>
            </a:r>
            <a:br>
              <a:rPr lang="fr-FR"/>
            </a:br>
            <a:r>
              <a:rPr lang="fr-FR"/>
              <a:t>Introduction</a:t>
            </a:r>
          </a:p>
        </p:txBody>
      </p:sp>
      <p:sp>
        <p:nvSpPr>
          <p:cNvPr id="3" name="Sous-titre 2"/>
          <p:cNvSpPr>
            <a:spLocks noGrp="1"/>
          </p:cNvSpPr>
          <p:nvPr>
            <p:ph type="subTitle" idx="1"/>
          </p:nvPr>
        </p:nvSpPr>
        <p:spPr/>
        <p:txBody>
          <a:bodyPr>
            <a:normAutofit/>
          </a:bodyPr>
          <a:lstStyle/>
          <a:p>
            <a:r>
              <a:rPr lang="fr-FR" err="1"/>
              <a:t>Maher</a:t>
            </a:r>
            <a:r>
              <a:rPr lang="fr-FR"/>
              <a:t> JAOUADI</a:t>
            </a:r>
          </a:p>
          <a:p>
            <a:r>
              <a:rPr lang="fr-FR"/>
              <a:t>Avril 2021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a:t>Introduction</a:t>
            </a:r>
          </a:p>
          <a:p>
            <a:r>
              <a:rPr lang="fr-FR" err="1"/>
              <a:t>DevOps</a:t>
            </a:r>
            <a:r>
              <a:rPr lang="fr-FR"/>
              <a:t>. C’est quoi ?</a:t>
            </a:r>
          </a:p>
          <a:p>
            <a:r>
              <a:rPr lang="fr-FR" err="1"/>
              <a:t>DevOps</a:t>
            </a:r>
            <a:r>
              <a:rPr lang="fr-FR"/>
              <a:t> et les autres référentiels</a:t>
            </a:r>
          </a:p>
          <a:p>
            <a:endParaRPr lang="fr-FR"/>
          </a:p>
          <a:p>
            <a:r>
              <a:rPr lang="fr-FR"/>
              <a:t> Conclusion</a:t>
            </a:r>
          </a:p>
        </p:txBody>
      </p:sp>
      <p:sp>
        <p:nvSpPr>
          <p:cNvPr id="2" name="Titre 1"/>
          <p:cNvSpPr>
            <a:spLocks noGrp="1"/>
          </p:cNvSpPr>
          <p:nvPr>
            <p:ph type="title"/>
          </p:nvPr>
        </p:nvSpPr>
        <p:spPr/>
        <p:txBody>
          <a:bodyPr/>
          <a:lstStyle/>
          <a:p>
            <a:r>
              <a:rPr lang="fr-FR"/>
              <a:t>Plan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r>
              <a:rPr lang="fr-FR"/>
              <a:t>Constats</a:t>
            </a:r>
          </a:p>
          <a:p>
            <a:pPr lvl="1"/>
            <a:r>
              <a:rPr lang="fr-FR"/>
              <a:t>Echecs dans l’atteinte des objectifs fixés par les départements IT</a:t>
            </a:r>
          </a:p>
          <a:p>
            <a:pPr lvl="1"/>
            <a:r>
              <a:rPr lang="fr-FR"/>
              <a:t>Insatisfaction des clients</a:t>
            </a:r>
          </a:p>
          <a:p>
            <a:pPr lvl="1"/>
            <a:r>
              <a:rPr lang="fr-FR"/>
              <a:t>Frustration des équipes IT</a:t>
            </a:r>
          </a:p>
          <a:p>
            <a:r>
              <a:rPr lang="fr-FR"/>
              <a:t>=&gt; Emergence de </a:t>
            </a:r>
            <a:r>
              <a:rPr lang="fr-FR" err="1"/>
              <a:t>DevOps</a:t>
            </a:r>
            <a:endParaRPr lang="fr-FR"/>
          </a:p>
          <a:p>
            <a:pPr algn="ctr">
              <a:buNone/>
            </a:pPr>
            <a:r>
              <a:rPr lang="en-US" err="1">
                <a:solidFill>
                  <a:srgbClr val="FF0000"/>
                </a:solidFill>
              </a:rPr>
              <a:t>DevOps</a:t>
            </a:r>
            <a:r>
              <a:rPr lang="en-US">
                <a:solidFill>
                  <a:srgbClr val="FF0000"/>
                </a:solidFill>
              </a:rPr>
              <a:t> is a methodology and as well as a culture to develop and deliver software.</a:t>
            </a:r>
          </a:p>
          <a:p>
            <a:pPr algn="ctr">
              <a:buNone/>
            </a:pPr>
            <a:r>
              <a:rPr lang="en-US" err="1">
                <a:solidFill>
                  <a:srgbClr val="002060"/>
                </a:solidFill>
              </a:rPr>
              <a:t>DevOps</a:t>
            </a:r>
            <a:r>
              <a:rPr lang="en-US">
                <a:solidFill>
                  <a:srgbClr val="002060"/>
                </a:solidFill>
              </a:rPr>
              <a:t> </a:t>
            </a:r>
            <a:r>
              <a:rPr lang="en-US" err="1">
                <a:solidFill>
                  <a:srgbClr val="002060"/>
                </a:solidFill>
              </a:rPr>
              <a:t>est</a:t>
            </a:r>
            <a:r>
              <a:rPr lang="en-US">
                <a:solidFill>
                  <a:srgbClr val="002060"/>
                </a:solidFill>
              </a:rPr>
              <a:t> </a:t>
            </a:r>
            <a:r>
              <a:rPr lang="en-US" err="1">
                <a:solidFill>
                  <a:srgbClr val="002060"/>
                </a:solidFill>
              </a:rPr>
              <a:t>une</a:t>
            </a:r>
            <a:r>
              <a:rPr lang="en-US">
                <a:solidFill>
                  <a:srgbClr val="002060"/>
                </a:solidFill>
              </a:rPr>
              <a:t> </a:t>
            </a:r>
            <a:r>
              <a:rPr lang="en-US" err="1">
                <a:solidFill>
                  <a:srgbClr val="002060"/>
                </a:solidFill>
              </a:rPr>
              <a:t>méthodologie</a:t>
            </a:r>
            <a:r>
              <a:rPr lang="en-US">
                <a:solidFill>
                  <a:srgbClr val="002060"/>
                </a:solidFill>
              </a:rPr>
              <a:t> et </a:t>
            </a:r>
            <a:r>
              <a:rPr lang="en-US" err="1">
                <a:solidFill>
                  <a:srgbClr val="002060"/>
                </a:solidFill>
              </a:rPr>
              <a:t>une</a:t>
            </a:r>
            <a:r>
              <a:rPr lang="en-US">
                <a:solidFill>
                  <a:srgbClr val="002060"/>
                </a:solidFill>
              </a:rPr>
              <a:t> culture pour </a:t>
            </a:r>
            <a:r>
              <a:rPr lang="en-US" err="1">
                <a:solidFill>
                  <a:srgbClr val="002060"/>
                </a:solidFill>
              </a:rPr>
              <a:t>développer</a:t>
            </a:r>
            <a:r>
              <a:rPr lang="en-US">
                <a:solidFill>
                  <a:srgbClr val="002060"/>
                </a:solidFill>
              </a:rPr>
              <a:t> et </a:t>
            </a:r>
            <a:r>
              <a:rPr lang="en-US" err="1">
                <a:solidFill>
                  <a:srgbClr val="002060"/>
                </a:solidFill>
              </a:rPr>
              <a:t>déployer</a:t>
            </a:r>
            <a:r>
              <a:rPr lang="en-US">
                <a:solidFill>
                  <a:srgbClr val="002060"/>
                </a:solidFill>
              </a:rPr>
              <a:t> des </a:t>
            </a:r>
            <a:r>
              <a:rPr lang="en-US" err="1">
                <a:solidFill>
                  <a:srgbClr val="002060"/>
                </a:solidFill>
              </a:rPr>
              <a:t>logiciels</a:t>
            </a:r>
            <a:r>
              <a:rPr lang="en-US">
                <a:solidFill>
                  <a:srgbClr val="002060"/>
                </a:solidFill>
              </a:rPr>
              <a:t> </a:t>
            </a:r>
            <a:endParaRPr lang="fr-FR">
              <a:solidFill>
                <a:srgbClr val="002060"/>
              </a:solidFill>
            </a:endParaRPr>
          </a:p>
        </p:txBody>
      </p:sp>
      <p:sp>
        <p:nvSpPr>
          <p:cNvPr id="3" name="Titre 2"/>
          <p:cNvSpPr>
            <a:spLocks noGrp="1"/>
          </p:cNvSpPr>
          <p:nvPr>
            <p:ph type="title"/>
          </p:nvPr>
        </p:nvSpPr>
        <p:spPr/>
        <p:txBody>
          <a:bodyPr/>
          <a:lstStyle/>
          <a:p>
            <a:r>
              <a:rPr lang="fr-F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lnSpcReduction="10000"/>
          </a:bodyPr>
          <a:lstStyle/>
          <a:p>
            <a:endParaRPr lang="fr-FR"/>
          </a:p>
          <a:p>
            <a:r>
              <a:rPr lang="fr-FR"/>
              <a:t>Les différentes certifications </a:t>
            </a:r>
            <a:r>
              <a:rPr lang="fr-FR" err="1"/>
              <a:t>DevOps</a:t>
            </a:r>
            <a:endParaRPr lang="fr-FR"/>
          </a:p>
          <a:p>
            <a:pPr lvl="1"/>
            <a:r>
              <a:rPr lang="fr-FR" err="1"/>
              <a:t>DevOps</a:t>
            </a:r>
            <a:r>
              <a:rPr lang="fr-FR"/>
              <a:t> </a:t>
            </a:r>
            <a:r>
              <a:rPr lang="fr-FR" err="1"/>
              <a:t>Generalist</a:t>
            </a:r>
            <a:endParaRPr lang="fr-FR"/>
          </a:p>
          <a:p>
            <a:pPr lvl="1"/>
            <a:r>
              <a:rPr lang="en-US" err="1"/>
              <a:t>DevOps</a:t>
            </a:r>
            <a:r>
              <a:rPr lang="en-US"/>
              <a:t> Executive,</a:t>
            </a:r>
          </a:p>
          <a:p>
            <a:pPr lvl="1"/>
            <a:r>
              <a:rPr lang="en-US" err="1"/>
              <a:t>DevOps</a:t>
            </a:r>
            <a:r>
              <a:rPr lang="en-US"/>
              <a:t> Project Manager, </a:t>
            </a:r>
          </a:p>
          <a:p>
            <a:pPr lvl="1"/>
            <a:r>
              <a:rPr lang="en-US" err="1"/>
              <a:t>DevOps</a:t>
            </a:r>
            <a:r>
              <a:rPr lang="fr-FR"/>
              <a:t> Product </a:t>
            </a:r>
            <a:r>
              <a:rPr lang="fr-FR" err="1"/>
              <a:t>Owner</a:t>
            </a:r>
            <a:r>
              <a:rPr lang="fr-FR"/>
              <a:t>, </a:t>
            </a:r>
          </a:p>
          <a:p>
            <a:pPr lvl="1"/>
            <a:r>
              <a:rPr lang="fr-FR" err="1"/>
              <a:t>DevOps</a:t>
            </a:r>
            <a:r>
              <a:rPr lang="fr-FR"/>
              <a:t> Architect, </a:t>
            </a:r>
          </a:p>
          <a:p>
            <a:pPr lvl="1"/>
            <a:r>
              <a:rPr lang="fr-FR" err="1"/>
              <a:t>DevOps</a:t>
            </a:r>
            <a:r>
              <a:rPr lang="fr-FR"/>
              <a:t> </a:t>
            </a:r>
            <a:r>
              <a:rPr lang="fr-FR" err="1"/>
              <a:t>Developer</a:t>
            </a:r>
            <a:r>
              <a:rPr lang="fr-FR"/>
              <a:t>, </a:t>
            </a:r>
          </a:p>
          <a:p>
            <a:pPr lvl="1"/>
            <a:r>
              <a:rPr lang="fr-FR" err="1"/>
              <a:t>DevOps</a:t>
            </a:r>
            <a:r>
              <a:rPr lang="fr-FR"/>
              <a:t> Operations </a:t>
            </a:r>
            <a:r>
              <a:rPr lang="fr-FR" err="1"/>
              <a:t>Engineer</a:t>
            </a:r>
            <a:r>
              <a:rPr lang="fr-FR"/>
              <a:t>, </a:t>
            </a:r>
          </a:p>
          <a:p>
            <a:pPr lvl="1"/>
            <a:r>
              <a:rPr lang="fr-FR" err="1"/>
              <a:t>DevOps</a:t>
            </a:r>
            <a:r>
              <a:rPr lang="fr-FR"/>
              <a:t> </a:t>
            </a:r>
            <a:r>
              <a:rPr lang="fr-FR" err="1"/>
              <a:t>Quality</a:t>
            </a:r>
            <a:r>
              <a:rPr lang="fr-FR"/>
              <a:t> Assurance </a:t>
            </a:r>
            <a:r>
              <a:rPr lang="fr-FR" err="1"/>
              <a:t>Engineer</a:t>
            </a:r>
            <a:r>
              <a:rPr lang="fr-FR"/>
              <a:t>, </a:t>
            </a:r>
          </a:p>
          <a:p>
            <a:pPr lvl="1"/>
            <a:r>
              <a:rPr lang="fr-FR" err="1"/>
              <a:t>DevOps</a:t>
            </a:r>
            <a:r>
              <a:rPr lang="fr-FR"/>
              <a:t> Information Security </a:t>
            </a:r>
            <a:r>
              <a:rPr lang="fr-FR" err="1"/>
              <a:t>Engineer</a:t>
            </a:r>
            <a:r>
              <a:rPr lang="fr-FR"/>
              <a:t>, </a:t>
            </a:r>
          </a:p>
          <a:p>
            <a:pPr lvl="1"/>
            <a:r>
              <a:rPr lang="fr-FR" err="1"/>
              <a:t>DevOps</a:t>
            </a:r>
            <a:r>
              <a:rPr lang="fr-FR"/>
              <a:t> Release Manager,</a:t>
            </a:r>
          </a:p>
        </p:txBody>
      </p:sp>
      <p:sp>
        <p:nvSpPr>
          <p:cNvPr id="3" name="Titre 2"/>
          <p:cNvSpPr>
            <a:spLocks noGrp="1"/>
          </p:cNvSpPr>
          <p:nvPr>
            <p:ph type="title"/>
          </p:nvPr>
        </p:nvSpPr>
        <p:spPr/>
        <p:txBody>
          <a:bodyPr/>
          <a:lstStyle/>
          <a:p>
            <a:r>
              <a:rPr lang="fr-FR"/>
              <a:t>Introduction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en-US" err="1"/>
              <a:t>Définition</a:t>
            </a:r>
            <a:r>
              <a:rPr lang="en-US"/>
              <a:t> 1</a:t>
            </a:r>
          </a:p>
          <a:p>
            <a:pPr algn="ctr">
              <a:buNone/>
            </a:pPr>
            <a:r>
              <a:rPr lang="en-US" err="1">
                <a:solidFill>
                  <a:srgbClr val="FF0000"/>
                </a:solidFill>
              </a:rPr>
              <a:t>DevOps</a:t>
            </a:r>
            <a:r>
              <a:rPr lang="en-US">
                <a:solidFill>
                  <a:srgbClr val="FF0000"/>
                </a:solidFill>
              </a:rPr>
              <a:t> is a process to develop, deliver and operate Software.</a:t>
            </a:r>
          </a:p>
          <a:p>
            <a:r>
              <a:rPr lang="fr-FR" err="1"/>
              <a:t>DevOps</a:t>
            </a:r>
            <a:r>
              <a:rPr lang="fr-FR"/>
              <a:t> est un processus pour développer,  livrer et exploiter des logiciels </a:t>
            </a:r>
          </a:p>
        </p:txBody>
      </p:sp>
      <p:sp>
        <p:nvSpPr>
          <p:cNvPr id="2" name="Titre 1"/>
          <p:cNvSpPr>
            <a:spLocks noGrp="1"/>
          </p:cNvSpPr>
          <p:nvPr>
            <p:ph type="title"/>
          </p:nvPr>
        </p:nvSpPr>
        <p:spPr/>
        <p:txBody>
          <a:bodyPr/>
          <a:lstStyle/>
          <a:p>
            <a:r>
              <a:rPr lang="fr-FR" err="1"/>
              <a:t>DevOps</a:t>
            </a:r>
            <a:r>
              <a:rPr lang="fr-FR"/>
              <a:t>. C’est quoi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endParaRPr lang="fr-FR"/>
          </a:p>
          <a:p>
            <a:r>
              <a:rPr lang="en-US" err="1"/>
              <a:t>Définition</a:t>
            </a:r>
            <a:r>
              <a:rPr lang="en-US"/>
              <a:t> 2 </a:t>
            </a:r>
          </a:p>
          <a:p>
            <a:pPr>
              <a:buNone/>
            </a:pPr>
            <a:r>
              <a:rPr lang="fr-FR">
                <a:solidFill>
                  <a:srgbClr val="FF0000"/>
                </a:solidFill>
              </a:rPr>
              <a:t>	</a:t>
            </a:r>
            <a:r>
              <a:rPr lang="fr-FR" err="1">
                <a:solidFill>
                  <a:srgbClr val="FF0000"/>
                </a:solidFill>
              </a:rPr>
              <a:t>DevOps</a:t>
            </a:r>
            <a:r>
              <a:rPr lang="fr-FR">
                <a:solidFill>
                  <a:srgbClr val="FF0000"/>
                </a:solidFill>
              </a:rPr>
              <a:t> est un mouvement en ingénierie informatique et une pratique technique visant à l'unification du développement logiciel (</a:t>
            </a:r>
            <a:r>
              <a:rPr lang="fr-FR" err="1">
                <a:solidFill>
                  <a:srgbClr val="FF0000"/>
                </a:solidFill>
              </a:rPr>
              <a:t>dev</a:t>
            </a:r>
            <a:r>
              <a:rPr lang="fr-FR">
                <a:solidFill>
                  <a:srgbClr val="FF0000"/>
                </a:solidFill>
              </a:rPr>
              <a:t>) et de l'administration des infrastructures informatiques (</a:t>
            </a:r>
            <a:r>
              <a:rPr lang="fr-FR" err="1">
                <a:solidFill>
                  <a:srgbClr val="FF0000"/>
                </a:solidFill>
              </a:rPr>
              <a:t>ops</a:t>
            </a:r>
            <a:r>
              <a:rPr lang="fr-FR">
                <a:solidFill>
                  <a:srgbClr val="FF0000"/>
                </a:solidFill>
              </a:rPr>
              <a:t>), notamment l'administration système.</a:t>
            </a:r>
          </a:p>
        </p:txBody>
      </p:sp>
      <p:sp>
        <p:nvSpPr>
          <p:cNvPr id="3" name="Titre 2"/>
          <p:cNvSpPr>
            <a:spLocks noGrp="1"/>
          </p:cNvSpPr>
          <p:nvPr>
            <p:ph type="title"/>
          </p:nvPr>
        </p:nvSpPr>
        <p:spPr/>
        <p:txBody>
          <a:bodyPr/>
          <a:lstStyle/>
          <a:p>
            <a:r>
              <a:rPr lang="fr-FR" err="1"/>
              <a:t>DevOps</a:t>
            </a:r>
            <a:r>
              <a:rPr lang="fr-FR"/>
              <a:t>. C’est quoi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r>
              <a:rPr lang="fr-FR"/>
              <a:t>Certaines définitions « commerciales » tentent de coupler </a:t>
            </a:r>
            <a:r>
              <a:rPr lang="fr-FR" err="1"/>
              <a:t>DevOps</a:t>
            </a:r>
            <a:r>
              <a:rPr lang="fr-FR"/>
              <a:t> à des outils de construction de logiciel ou à des infrastructures Cloud.</a:t>
            </a:r>
          </a:p>
          <a:p>
            <a:endParaRPr lang="fr-FR"/>
          </a:p>
          <a:p>
            <a:r>
              <a:rPr lang="fr-FR"/>
              <a:t>D’autres définitions trompeuses voient </a:t>
            </a:r>
            <a:r>
              <a:rPr lang="fr-FR" err="1"/>
              <a:t>DevOps</a:t>
            </a:r>
            <a:r>
              <a:rPr lang="fr-FR"/>
              <a:t> comme une intersection du travail des hommes dans une organisation IT. </a:t>
            </a:r>
          </a:p>
        </p:txBody>
      </p:sp>
      <p:sp>
        <p:nvSpPr>
          <p:cNvPr id="3" name="Titre 2"/>
          <p:cNvSpPr>
            <a:spLocks noGrp="1"/>
          </p:cNvSpPr>
          <p:nvPr>
            <p:ph type="title"/>
          </p:nvPr>
        </p:nvSpPr>
        <p:spPr/>
        <p:txBody>
          <a:bodyPr/>
          <a:lstStyle/>
          <a:p>
            <a:r>
              <a:rPr lang="fr-FR" err="1"/>
              <a:t>DevOps</a:t>
            </a:r>
            <a:r>
              <a:rPr lang="fr-FR"/>
              <a:t>. C’est quoi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a:bodyPr>
          <a:lstStyle/>
          <a:p>
            <a:pPr algn="just"/>
            <a:r>
              <a:rPr lang="fr-FR"/>
              <a:t>La meilleure approche pour définir </a:t>
            </a:r>
            <a:r>
              <a:rPr lang="fr-FR" err="1"/>
              <a:t>DevOps</a:t>
            </a:r>
            <a:r>
              <a:rPr lang="fr-FR"/>
              <a:t> est de le considérer comme un processus itératif agile de développement de logiciel  ou un </a:t>
            </a:r>
            <a:r>
              <a:rPr lang="fr-FR" err="1"/>
              <a:t>framework</a:t>
            </a:r>
            <a:r>
              <a:rPr lang="fr-FR"/>
              <a:t> d’amélioration de processus (</a:t>
            </a:r>
            <a:r>
              <a:rPr lang="fr-FR" err="1"/>
              <a:t>process</a:t>
            </a:r>
            <a:r>
              <a:rPr lang="fr-FR"/>
              <a:t> </a:t>
            </a:r>
            <a:r>
              <a:rPr lang="fr-FR" err="1"/>
              <a:t>improvment</a:t>
            </a:r>
            <a:r>
              <a:rPr lang="fr-FR"/>
              <a:t>) tel que :</a:t>
            </a:r>
          </a:p>
          <a:p>
            <a:pPr lvl="1" algn="just"/>
            <a:r>
              <a:rPr lang="fr-FR" b="1"/>
              <a:t>Agile </a:t>
            </a:r>
            <a:r>
              <a:rPr lang="fr-FR" b="1" err="1"/>
              <a:t>Scrum</a:t>
            </a:r>
            <a:r>
              <a:rPr lang="fr-FR"/>
              <a:t>, </a:t>
            </a:r>
          </a:p>
          <a:p>
            <a:pPr lvl="1" algn="just"/>
            <a:r>
              <a:rPr lang="fr-FR" b="1"/>
              <a:t>Lean</a:t>
            </a:r>
            <a:r>
              <a:rPr lang="fr-FR"/>
              <a:t>, </a:t>
            </a:r>
          </a:p>
          <a:p>
            <a:pPr lvl="1" algn="just"/>
            <a:r>
              <a:rPr lang="fr-FR" b="1"/>
              <a:t>ITIL</a:t>
            </a:r>
            <a:r>
              <a:rPr lang="fr-FR"/>
              <a:t>, </a:t>
            </a:r>
          </a:p>
          <a:p>
            <a:pPr lvl="1" algn="just"/>
            <a:r>
              <a:rPr lang="fr-FR" b="1"/>
              <a:t>IDEAL</a:t>
            </a:r>
            <a:r>
              <a:rPr lang="fr-FR"/>
              <a:t> </a:t>
            </a:r>
            <a:r>
              <a:rPr lang="en-US"/>
              <a:t>(Initiate, Define, Establish, Act and Learn)  </a:t>
            </a:r>
          </a:p>
          <a:p>
            <a:pPr lvl="1" algn="just"/>
            <a:r>
              <a:rPr lang="en-US" b="1"/>
              <a:t>Six Sigma DMAIC </a:t>
            </a:r>
            <a:r>
              <a:rPr lang="en-US"/>
              <a:t>(Define, Measure, Analyze, Improve and Control).</a:t>
            </a:r>
            <a:endParaRPr lang="fr-FR"/>
          </a:p>
        </p:txBody>
      </p:sp>
      <p:sp>
        <p:nvSpPr>
          <p:cNvPr id="3" name="Titre 2"/>
          <p:cNvSpPr>
            <a:spLocks noGrp="1"/>
          </p:cNvSpPr>
          <p:nvPr>
            <p:ph type="title"/>
          </p:nvPr>
        </p:nvSpPr>
        <p:spPr/>
        <p:txBody>
          <a:bodyPr/>
          <a:lstStyle/>
          <a:p>
            <a:r>
              <a:rPr lang="fr-FR" err="1"/>
              <a:t>DevOps</a:t>
            </a:r>
            <a:r>
              <a:rPr lang="fr-FR"/>
              <a:t>. C’est quoi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fontScale="92500" lnSpcReduction="10000"/>
          </a:bodyPr>
          <a:lstStyle/>
          <a:p>
            <a:r>
              <a:rPr lang="fr-FR"/>
              <a:t>Plusieurs principes et pratiques </a:t>
            </a:r>
            <a:r>
              <a:rPr lang="fr-FR" err="1"/>
              <a:t>DevOps</a:t>
            </a:r>
            <a:r>
              <a:rPr lang="fr-FR"/>
              <a:t> dérivent de la méthode Lean(Lean </a:t>
            </a:r>
            <a:r>
              <a:rPr lang="fr-FR" err="1"/>
              <a:t>movement</a:t>
            </a:r>
            <a:r>
              <a:rPr lang="fr-FR"/>
              <a:t>) après les avoir adaptés, testés et validé pour le développement, la livraison et la mise en exploitation des logiciels.</a:t>
            </a:r>
          </a:p>
          <a:p>
            <a:r>
              <a:rPr lang="fr-FR" err="1"/>
              <a:t>devOps</a:t>
            </a:r>
            <a:r>
              <a:rPr lang="fr-FR"/>
              <a:t> a emprunté et adapté plusieurs techniques et philosophies de : </a:t>
            </a:r>
          </a:p>
          <a:p>
            <a:pPr lvl="1"/>
            <a:r>
              <a:rPr lang="fr-FR" err="1"/>
              <a:t>Continuous</a:t>
            </a:r>
            <a:r>
              <a:rPr lang="fr-FR"/>
              <a:t> </a:t>
            </a:r>
            <a:r>
              <a:rPr lang="fr-FR" err="1"/>
              <a:t>Delivery</a:t>
            </a:r>
            <a:r>
              <a:rPr lang="fr-FR"/>
              <a:t> Model</a:t>
            </a:r>
          </a:p>
          <a:p>
            <a:pPr lvl="1"/>
            <a:r>
              <a:rPr lang="fr-FR"/>
              <a:t>Toyota </a:t>
            </a:r>
            <a:r>
              <a:rPr lang="fr-FR" err="1"/>
              <a:t>improvment</a:t>
            </a:r>
            <a:r>
              <a:rPr lang="fr-FR"/>
              <a:t> KATA</a:t>
            </a:r>
          </a:p>
          <a:p>
            <a:pPr lvl="1"/>
            <a:r>
              <a:rPr lang="fr-FR" err="1"/>
              <a:t>Theory</a:t>
            </a:r>
            <a:r>
              <a:rPr lang="fr-FR"/>
              <a:t> of </a:t>
            </a:r>
            <a:r>
              <a:rPr lang="fr-FR" err="1"/>
              <a:t>Constraints</a:t>
            </a:r>
            <a:endParaRPr lang="fr-FR"/>
          </a:p>
          <a:p>
            <a:pPr lvl="1"/>
            <a:r>
              <a:rPr lang="fr-FR"/>
              <a:t>Agile </a:t>
            </a:r>
            <a:r>
              <a:rPr lang="fr-FR" err="1"/>
              <a:t>Manifesto</a:t>
            </a:r>
            <a:r>
              <a:rPr lang="fr-FR"/>
              <a:t> </a:t>
            </a:r>
          </a:p>
          <a:p>
            <a:pPr lvl="1"/>
            <a:r>
              <a:rPr lang="fr-FR"/>
              <a:t>Agile Infrastructure</a:t>
            </a:r>
          </a:p>
          <a:p>
            <a:endParaRPr lang="fr-F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fontScale="92500" lnSpcReduction="10000"/>
          </a:bodyPr>
          <a:lstStyle/>
          <a:p>
            <a:r>
              <a:rPr lang="fr-FR"/>
              <a:t>La méthode </a:t>
            </a:r>
            <a:r>
              <a:rPr lang="fr-FR" b="1">
                <a:solidFill>
                  <a:srgbClr val="002060"/>
                </a:solidFill>
              </a:rPr>
              <a:t>Lean</a:t>
            </a:r>
          </a:p>
          <a:p>
            <a:pPr lvl="1">
              <a:buNone/>
            </a:pPr>
            <a:r>
              <a:rPr lang="fr-FR"/>
              <a:t>On peut la résumer en 7 principes:</a:t>
            </a:r>
          </a:p>
          <a:p>
            <a:pPr lvl="1">
              <a:buNone/>
            </a:pPr>
            <a:endParaRPr lang="fr-FR"/>
          </a:p>
          <a:p>
            <a:pPr marL="624078" indent="-514350">
              <a:buFont typeface="+mj-lt"/>
              <a:buAutoNum type="arabicPeriod"/>
            </a:pPr>
            <a:r>
              <a:rPr lang="fr-FR"/>
              <a:t>Voire l'ensemble et créer de la valeur client avec la pensée systémique.</a:t>
            </a:r>
          </a:p>
          <a:p>
            <a:pPr marL="624078" indent="-514350">
              <a:buFont typeface="+mj-lt"/>
              <a:buAutoNum type="arabicPeriod"/>
            </a:pPr>
            <a:r>
              <a:rPr lang="fr-FR"/>
              <a:t>Construire la qualité dans le processus. Créer du flux et tirer (au lieu de pousser).</a:t>
            </a:r>
          </a:p>
          <a:p>
            <a:pPr marL="624078" indent="-514350">
              <a:buFont typeface="+mj-lt"/>
              <a:buAutoNum type="arabicPeriod"/>
            </a:pPr>
            <a:r>
              <a:rPr lang="fr-FR"/>
              <a:t>Délivrer aussi vite que possible (raccourcir les délais nécessaires pour convertir la matière première en produit fini) en logiciel traduire les idées fonctionnalités qui tournent en production.</a:t>
            </a: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br>
              <a:rPr lang="fr-FR"/>
            </a:br>
            <a:r>
              <a:rPr lang="fr-FR" sz="3100"/>
              <a:t>&gt;</a:t>
            </a:r>
            <a:r>
              <a:rPr lang="fr-FR" sz="3100">
                <a:solidFill>
                  <a:srgbClr val="002060"/>
                </a:solidFill>
              </a:rPr>
              <a:t>La méthode Lean</a:t>
            </a:r>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pPr marL="624078" indent="-514350">
              <a:buFont typeface="+mj-lt"/>
              <a:buAutoNum type="arabicPeriod" startAt="4"/>
            </a:pPr>
            <a:r>
              <a:rPr lang="fr-FR"/>
              <a:t>Développer l’apprentissage et adopter la pensée scientifique.</a:t>
            </a:r>
          </a:p>
          <a:p>
            <a:pPr marL="624078" indent="-514350">
              <a:buFont typeface="+mj-lt"/>
              <a:buAutoNum type="arabicPeriod" startAt="4"/>
            </a:pPr>
            <a:r>
              <a:rPr lang="fr-FR"/>
              <a:t>Responsabiliser votre équipe, diriger avec humilité et respecter chaque individu.</a:t>
            </a:r>
          </a:p>
          <a:p>
            <a:pPr marL="624078" indent="-514350">
              <a:buFont typeface="+mj-lt"/>
              <a:buAutoNum type="arabicPeriod" startAt="4"/>
            </a:pPr>
            <a:r>
              <a:rPr lang="fr-FR"/>
              <a:t>Eliminer les déchets (outils, systèmes, et  surtout le temps que vous pourriez passer dans des activités improductives).</a:t>
            </a:r>
          </a:p>
          <a:p>
            <a:pPr marL="624078" indent="-514350">
              <a:buFont typeface="+mj-lt"/>
              <a:buAutoNum type="arabicPeriod" startAt="4"/>
            </a:pPr>
            <a:r>
              <a:rPr lang="fr-FR"/>
              <a:t>Décider aussi tard que possible (juste prendre des décisions à temps).</a:t>
            </a:r>
          </a:p>
          <a:p>
            <a:endParaRPr lang="fr-FR"/>
          </a:p>
          <a:p>
            <a:endParaRPr lang="fr-F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br>
              <a:rPr lang="fr-FR"/>
            </a:br>
            <a:r>
              <a:rPr lang="fr-FR" sz="4400"/>
              <a:t> </a:t>
            </a:r>
            <a:r>
              <a:rPr lang="fr-FR" sz="3100"/>
              <a:t>&gt;</a:t>
            </a:r>
            <a:r>
              <a:rPr lang="fr-FR" sz="3100">
                <a:solidFill>
                  <a:srgbClr val="002060"/>
                </a:solidFill>
              </a:rPr>
              <a:t>La méthode Lean</a:t>
            </a:r>
            <a:endParaRPr lang="fr-FR" sz="3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r>
              <a:rPr lang="fr-FR"/>
              <a:t>La méthode </a:t>
            </a:r>
            <a:r>
              <a:rPr lang="fr-FR" b="1" err="1">
                <a:solidFill>
                  <a:srgbClr val="002060"/>
                </a:solidFill>
              </a:rPr>
              <a:t>Continuous</a:t>
            </a:r>
            <a:r>
              <a:rPr lang="fr-FR" b="1">
                <a:solidFill>
                  <a:srgbClr val="002060"/>
                </a:solidFill>
              </a:rPr>
              <a:t> </a:t>
            </a:r>
            <a:r>
              <a:rPr lang="fr-FR" b="1" err="1">
                <a:solidFill>
                  <a:srgbClr val="002060"/>
                </a:solidFill>
              </a:rPr>
              <a:t>Delivery</a:t>
            </a:r>
            <a:r>
              <a:rPr lang="fr-FR" b="1">
                <a:solidFill>
                  <a:srgbClr val="002060"/>
                </a:solidFill>
              </a:rPr>
              <a:t> </a:t>
            </a:r>
            <a:r>
              <a:rPr lang="fr-FR"/>
              <a:t>(livraison continue)</a:t>
            </a:r>
          </a:p>
          <a:p>
            <a:r>
              <a:rPr lang="fr-FR"/>
              <a:t>Vous activer la livraison continue à travers le pipeline de déploiement.</a:t>
            </a:r>
          </a:p>
          <a:p>
            <a:r>
              <a:rPr lang="fr-FR"/>
              <a:t>Trois missions importantes</a:t>
            </a:r>
          </a:p>
          <a:p>
            <a:pPr lvl="1"/>
            <a:r>
              <a:rPr lang="fr-FR"/>
              <a:t>Visibilité</a:t>
            </a:r>
          </a:p>
          <a:p>
            <a:pPr lvl="1"/>
            <a:r>
              <a:rPr lang="fr-FR"/>
              <a:t>Retour - rétroaction</a:t>
            </a:r>
          </a:p>
          <a:p>
            <a:pPr lvl="1"/>
            <a:r>
              <a:rPr lang="fr-FR"/>
              <a:t>Déploiement continue </a:t>
            </a:r>
          </a:p>
          <a:p>
            <a:endParaRPr lang="fr-F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br>
              <a:rPr lang="fr-FR"/>
            </a:br>
            <a:r>
              <a:rPr lang="fr-FR" sz="4400"/>
              <a:t> </a:t>
            </a:r>
            <a:r>
              <a:rPr lang="fr-FR" sz="3100"/>
              <a:t>&gt;</a:t>
            </a:r>
            <a:r>
              <a:rPr lang="fr-FR" sz="3100">
                <a:solidFill>
                  <a:srgbClr val="002060"/>
                </a:solidFill>
              </a:rPr>
              <a:t>La méthode Lean</a:t>
            </a:r>
            <a:endParaRPr lang="fr-F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r>
              <a:rPr lang="fr-FR" b="1" err="1"/>
              <a:t>Visibility</a:t>
            </a:r>
            <a:endParaRPr lang="fr-FR" b="1"/>
          </a:p>
          <a:p>
            <a:endParaRPr lang="fr-FR" b="1"/>
          </a:p>
          <a:p>
            <a:pPr>
              <a:buNone/>
            </a:pPr>
            <a:r>
              <a:rPr lang="fr-FR"/>
              <a:t>	- Rendre tous les aspects du système de livraison (Développement, tests, déploiement, versions) visibles à chaque membre de l’équipe et aux autres équipes.</a:t>
            </a:r>
          </a:p>
          <a:p>
            <a:pPr>
              <a:buNone/>
            </a:pPr>
            <a:r>
              <a:rPr lang="fr-FR"/>
              <a:t>	- Développer la collaboration dans l’équipe</a:t>
            </a:r>
          </a:p>
          <a:p>
            <a:pPr>
              <a:buNone/>
            </a:pPr>
            <a:r>
              <a:rPr lang="fr-FR"/>
              <a:t>	- Plus de transparence pour les clients et les partenaires   </a:t>
            </a: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br>
              <a:rPr lang="fr-FR"/>
            </a:br>
            <a:r>
              <a:rPr lang="fr-FR" sz="4400"/>
              <a:t> </a:t>
            </a:r>
            <a:r>
              <a:rPr lang="fr-FR" sz="3100"/>
              <a:t>&gt;</a:t>
            </a:r>
            <a:r>
              <a:rPr lang="fr-FR" sz="3100">
                <a:solidFill>
                  <a:srgbClr val="002060"/>
                </a:solidFill>
              </a:rPr>
              <a:t>La méthode Lean</a:t>
            </a:r>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a:bodyPr>
          <a:lstStyle/>
          <a:p>
            <a:r>
              <a:rPr lang="fr-FR" b="1"/>
              <a:t>Rétroaction </a:t>
            </a:r>
            <a:r>
              <a:rPr lang="fr-FR" sz="2400" b="1"/>
              <a:t>(feedback)</a:t>
            </a:r>
            <a:endParaRPr lang="fr-FR" b="1"/>
          </a:p>
          <a:p>
            <a:pPr>
              <a:buNone/>
            </a:pPr>
            <a:r>
              <a:rPr lang="fr-FR"/>
              <a:t>	- Etre au courant des problèmes dès qu’ils surviennent </a:t>
            </a:r>
          </a:p>
          <a:p>
            <a:pPr>
              <a:buNone/>
            </a:pPr>
            <a:r>
              <a:rPr lang="fr-FR"/>
              <a:t>	- Etre capable de les résoudre rapidement avant de mettre une autre brique sur un bloc déjà effondré.</a:t>
            </a:r>
          </a:p>
          <a:p>
            <a:r>
              <a:rPr lang="fr-FR" b="1"/>
              <a:t>Déploiement continue </a:t>
            </a:r>
            <a:r>
              <a:rPr lang="fr-FR" sz="2400" b="1"/>
              <a:t>(</a:t>
            </a:r>
            <a:r>
              <a:rPr lang="en-US" sz="2400" b="1"/>
              <a:t>Continuous Deployment)</a:t>
            </a:r>
            <a:endParaRPr lang="fr-FR" b="1"/>
          </a:p>
          <a:p>
            <a:pPr>
              <a:buNone/>
            </a:pPr>
            <a:r>
              <a:rPr lang="fr-FR"/>
              <a:t>	- Déployer chaque version du logiciel à tous les environnements y compris test et production à travers un processus automatisé</a:t>
            </a:r>
          </a:p>
          <a:p>
            <a:endParaRPr lang="fr-F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br>
              <a:rPr lang="fr-FR"/>
            </a:br>
            <a:r>
              <a:rPr lang="fr-FR" sz="3100"/>
              <a:t> &gt;</a:t>
            </a:r>
            <a:r>
              <a:rPr lang="fr-FR" sz="3100">
                <a:solidFill>
                  <a:srgbClr val="002060"/>
                </a:solidFill>
              </a:rPr>
              <a:t>La méthode Lean</a:t>
            </a:r>
            <a:endParaRPr lang="fr-F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a:bodyPr>
          <a:lstStyle/>
          <a:p>
            <a:r>
              <a:rPr lang="fr-FR" b="1"/>
              <a:t>Kata d’amélioration de Toyota (</a:t>
            </a:r>
            <a:r>
              <a:rPr lang="en-US" b="1"/>
              <a:t>Toyota Improvement </a:t>
            </a:r>
            <a:r>
              <a:rPr lang="en-US" b="1" err="1"/>
              <a:t>Kata</a:t>
            </a:r>
            <a:r>
              <a:rPr lang="en-US" b="1"/>
              <a:t>)</a:t>
            </a:r>
            <a:endParaRPr lang="fr-FR" b="1"/>
          </a:p>
          <a:p>
            <a:endParaRPr lang="fr-FR"/>
          </a:p>
          <a:p>
            <a:r>
              <a:rPr lang="fr-FR"/>
              <a:t>Utiliser cette méthode comme une routine pour passer d’une condition actuelle à une condition cible de manière créative, dirigée et significative</a:t>
            </a:r>
          </a:p>
          <a:p>
            <a:endParaRPr lang="fr-FR"/>
          </a:p>
          <a:p>
            <a:r>
              <a:rPr lang="fr-FR"/>
              <a:t>Modèle basé sur 4 parties:</a:t>
            </a:r>
          </a:p>
          <a:p>
            <a:endParaRPr lang="fr-F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br>
              <a:rPr lang="fr-FR"/>
            </a:br>
            <a:r>
              <a:rPr lang="fr-FR" sz="3100">
                <a:solidFill>
                  <a:srgbClr val="002060"/>
                </a:solidFill>
              </a:rPr>
              <a:t>&gt; Kata d’amélioration de Toyota </a:t>
            </a:r>
            <a:endParaRPr lang="fr-FR">
              <a:solidFill>
                <a:srgbClr val="00206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a:bodyPr>
          <a:lstStyle/>
          <a:p>
            <a:r>
              <a:rPr lang="fr-FR"/>
              <a:t>Avoir une réflexion sur une vision plus large ou une direction améliorée</a:t>
            </a:r>
          </a:p>
          <a:p>
            <a:r>
              <a:rPr lang="fr-FR"/>
              <a:t>Connaitre les conditions actuelles.</a:t>
            </a:r>
          </a:p>
          <a:p>
            <a:r>
              <a:rPr lang="fr-FR"/>
              <a:t>Ensuite, définir les conditions cibles à atteindre.</a:t>
            </a:r>
          </a:p>
          <a:p>
            <a:r>
              <a:rPr lang="fr-FR"/>
              <a:t>En fin de compte, essayer de manière continue et itérative de se déplacer vers cette condition cible. Le long de cette route, vous découvrez les obstacles sur lesquels il faut travailler et vous les triez.</a:t>
            </a:r>
          </a:p>
          <a:p>
            <a:endParaRPr lang="fr-F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br>
              <a:rPr lang="fr-FR"/>
            </a:br>
            <a:r>
              <a:rPr lang="fr-FR" sz="4400"/>
              <a:t> </a:t>
            </a:r>
            <a:r>
              <a:rPr lang="fr-FR" sz="3100">
                <a:solidFill>
                  <a:srgbClr val="002060"/>
                </a:solidFill>
              </a:rPr>
              <a:t>&gt; Kata d’amélioration de Toyota </a:t>
            </a:r>
            <a:endParaRPr lang="fr-FR">
              <a:solidFill>
                <a:srgbClr val="00206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a:bodyPr>
          <a:lstStyle/>
          <a:p>
            <a:r>
              <a:rPr lang="fr-FR"/>
              <a:t>Contrairement à d'autres approches d'amélioration où on tente de prédire le chemin on se concentre sur la mise en œuvre avec Toyota Kata on apprend et s'appuie sur la découverte qui se produit le long du chemin.</a:t>
            </a:r>
          </a:p>
          <a:p>
            <a:r>
              <a:rPr lang="fr-FR"/>
              <a:t>Vous et vos équipes utilisez le Toyota kata pour apprendre lorsque vous vous efforcez d'atteindre un objectif, et vous vous adaptez en fonction de ce que vous apprenez.</a:t>
            </a: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br>
              <a:rPr lang="fr-FR"/>
            </a:br>
            <a:r>
              <a:rPr lang="fr-FR" sz="4400">
                <a:solidFill>
                  <a:srgbClr val="002060"/>
                </a:solidFill>
              </a:rPr>
              <a:t> </a:t>
            </a:r>
            <a:r>
              <a:rPr lang="fr-FR" sz="3100">
                <a:solidFill>
                  <a:srgbClr val="002060"/>
                </a:solidFill>
              </a:rPr>
              <a:t>&gt; Kata d’amélioration de Toyota </a:t>
            </a:r>
            <a:endParaRPr lang="fr-FR">
              <a:solidFill>
                <a:srgbClr val="00206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a:bodyPr>
          <a:lstStyle/>
          <a:p>
            <a:pPr>
              <a:buNone/>
            </a:pPr>
            <a:r>
              <a:rPr lang="fr-FR" b="1"/>
              <a:t>Théorie des contraintes</a:t>
            </a:r>
          </a:p>
          <a:p>
            <a:endParaRPr lang="fr-FR" b="1"/>
          </a:p>
          <a:p>
            <a:r>
              <a:rPr lang="fr-FR"/>
              <a:t>Dans toute qui fournit tout type de logiciel, il y a toujours un conflit permanent entre les équipes IT et le reste du personnel.</a:t>
            </a:r>
          </a:p>
          <a:p>
            <a:r>
              <a:rPr lang="fr-FR"/>
              <a:t>Répondre rapidement aux besoins des clients tout en garantissant des environnements de production stables et prévisibles est un compromis continu auquel doit faire face les équipes IT.</a:t>
            </a: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br>
              <a:rPr lang="fr-FR"/>
            </a:br>
            <a:r>
              <a:rPr lang="fr-FR" sz="3100">
                <a:solidFill>
                  <a:srgbClr val="002060"/>
                </a:solidFill>
              </a:rPr>
              <a:t>&gt; Théorie des contraintes</a:t>
            </a:r>
            <a:endParaRPr lang="fr-FR">
              <a:solidFill>
                <a:srgbClr val="00206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a:bodyPr>
          <a:lstStyle/>
          <a:p>
            <a:r>
              <a:rPr lang="fr-FR"/>
              <a:t>En supposant qu’on est déjà pleinement conscient qu'il n'y a pas de version de production sans risque, dans un système complexe on ne peut pas être assez rapide si on veut assurer livraison à faible risque. </a:t>
            </a:r>
          </a:p>
          <a:p>
            <a:r>
              <a:rPr lang="fr-FR"/>
              <a:t>Et on  ne peut pas garantir une production à faible risque si on souhaite déployer rapidement son code aux systèmes de production.</a:t>
            </a: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br>
              <a:rPr lang="fr-FR"/>
            </a:br>
            <a:r>
              <a:rPr lang="fr-FR" sz="3100"/>
              <a:t> </a:t>
            </a:r>
            <a:r>
              <a:rPr lang="fr-FR" sz="3100">
                <a:solidFill>
                  <a:srgbClr val="002060"/>
                </a:solidFill>
              </a:rPr>
              <a:t>&gt; Théorie des contraintes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r>
              <a:rPr lang="fr-FR"/>
              <a:t>On fait face à ce conflit quand:</a:t>
            </a:r>
          </a:p>
          <a:p>
            <a:endParaRPr lang="fr-FR"/>
          </a:p>
          <a:p>
            <a:pPr marL="624078" indent="-514350">
              <a:buFont typeface="+mj-lt"/>
              <a:buAutoNum type="arabicPeriod"/>
            </a:pPr>
            <a:r>
              <a:rPr lang="fr-FR"/>
              <a:t>On divise l’organisation IT en plusieurs petites équipes autonomes, indépendantes, autosuffisantes et hautement collaboratives (Il faut voir les équipes comme des «unités intelligentes» ayant une mission).</a:t>
            </a:r>
          </a:p>
          <a:p>
            <a:pPr marL="624078" indent="-514350">
              <a:buFont typeface="+mj-lt"/>
              <a:buAutoNum type="arabicPeriod"/>
            </a:pPr>
            <a:r>
              <a:rPr lang="fr-FR"/>
              <a:t>On réduit la taille des lots de travail (la taille du travail en cours) donné à chaque équipe.</a:t>
            </a: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br>
              <a:rPr lang="fr-FR"/>
            </a:br>
            <a:r>
              <a:rPr lang="fr-FR" sz="3100">
                <a:solidFill>
                  <a:srgbClr val="002060"/>
                </a:solidFill>
              </a:rPr>
              <a:t> &gt; Théorie des contraintes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pPr marL="624078" indent="-514350">
              <a:buFont typeface="+mj-lt"/>
              <a:buAutoNum type="arabicPeriod" startAt="3"/>
            </a:pPr>
            <a:endParaRPr lang="fr-FR"/>
          </a:p>
          <a:p>
            <a:pPr marL="624078" indent="-514350">
              <a:buFont typeface="+mj-lt"/>
              <a:buAutoNum type="arabicPeriod" startAt="3"/>
            </a:pPr>
            <a:r>
              <a:rPr lang="fr-FR"/>
              <a:t>On réduit les délais (temps nécessaire pour convertir les idées et les exigences en programmes et fonctionnalités en production).</a:t>
            </a:r>
          </a:p>
          <a:p>
            <a:pPr marL="624078" indent="-514350">
              <a:buFont typeface="+mj-lt"/>
              <a:buAutoNum type="arabicPeriod" startAt="3"/>
            </a:pPr>
            <a:endParaRPr lang="fr-FR"/>
          </a:p>
          <a:p>
            <a:pPr marL="624078" indent="-514350">
              <a:buFont typeface="+mj-lt"/>
              <a:buAutoNum type="arabicPeriod" startAt="3"/>
            </a:pPr>
            <a:r>
              <a:rPr lang="fr-FR"/>
              <a:t>On crée une rétroaction plus rapide, fiable et continue boucles pour garantir la préparation au déploiement</a:t>
            </a: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br>
              <a:rPr lang="fr-FR"/>
            </a:br>
            <a:r>
              <a:rPr lang="fr-FR" sz="3100">
                <a:solidFill>
                  <a:srgbClr val="002060"/>
                </a:solidFill>
              </a:rPr>
              <a:t> &gt; Théorie des contraintes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fontScale="92500" lnSpcReduction="10000"/>
          </a:bodyPr>
          <a:lstStyle/>
          <a:p>
            <a:r>
              <a:rPr lang="fr-FR" b="1"/>
              <a:t>Manifeste agile</a:t>
            </a:r>
          </a:p>
          <a:p>
            <a:r>
              <a:rPr lang="fr-FR"/>
              <a:t>Avec </a:t>
            </a:r>
            <a:r>
              <a:rPr lang="fr-FR" err="1"/>
              <a:t>DevOps</a:t>
            </a:r>
            <a:r>
              <a:rPr lang="fr-FR"/>
              <a:t>, vous adhérez aux principes fondamentaux définies par le manifeste agile:</a:t>
            </a:r>
          </a:p>
          <a:p>
            <a:r>
              <a:rPr lang="fr-FR"/>
              <a:t>Accorder de l’importance </a:t>
            </a:r>
          </a:p>
          <a:p>
            <a:r>
              <a:rPr lang="fr-FR" b="1"/>
              <a:t>Aux individus et aux interactions </a:t>
            </a:r>
            <a:r>
              <a:rPr lang="fr-FR"/>
              <a:t>plutôt qu’aux processus et outils.</a:t>
            </a:r>
          </a:p>
          <a:p>
            <a:r>
              <a:rPr lang="fr-FR" b="1"/>
              <a:t>À un logiciel fonctionnel </a:t>
            </a:r>
            <a:r>
              <a:rPr lang="fr-FR"/>
              <a:t>plutôt qu’à une documentation exhaustive.</a:t>
            </a:r>
          </a:p>
          <a:p>
            <a:r>
              <a:rPr lang="fr-FR" b="1"/>
              <a:t>à la collaboration avec les clients</a:t>
            </a:r>
            <a:r>
              <a:rPr lang="fr-FR"/>
              <a:t> plutôt qu'à la négociation contractuelle </a:t>
            </a:r>
          </a:p>
          <a:p>
            <a:r>
              <a:rPr lang="fr-FR" b="1"/>
              <a:t>à l’adaptation au changement</a:t>
            </a:r>
            <a:r>
              <a:rPr lang="fr-FR"/>
              <a:t> plutôt qu'à l'exécution d’un plan.</a:t>
            </a:r>
          </a:p>
          <a:p>
            <a:endParaRPr lang="fr-FR"/>
          </a:p>
          <a:p>
            <a:endParaRPr lang="fr-FR"/>
          </a:p>
          <a:p>
            <a:endParaRPr lang="fr-F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br>
              <a:rPr lang="fr-FR"/>
            </a:br>
            <a:r>
              <a:rPr lang="fr-FR" sz="3100">
                <a:solidFill>
                  <a:srgbClr val="002060"/>
                </a:solidFill>
              </a:rPr>
              <a:t> &gt; Manifeste agile</a:t>
            </a:r>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r>
              <a:rPr lang="fr-FR"/>
              <a:t>Les organisations s’appuient sur des infrastructures </a:t>
            </a:r>
            <a:r>
              <a:rPr lang="fr-FR" err="1"/>
              <a:t>cloud</a:t>
            </a:r>
            <a:r>
              <a:rPr lang="fr-FR"/>
              <a:t> hybrides combinant </a:t>
            </a:r>
            <a:r>
              <a:rPr lang="fr-FR" err="1"/>
              <a:t>cloud</a:t>
            </a:r>
            <a:r>
              <a:rPr lang="fr-FR"/>
              <a:t> publique et privé et des serveurs dédiés</a:t>
            </a:r>
          </a:p>
          <a:p>
            <a:r>
              <a:rPr lang="fr-FR"/>
              <a:t>Par conséquent, on collecte les avantages de la sécurité de la colocation en combinaison avec la flexibilité et l'évolutivité du </a:t>
            </a:r>
            <a:r>
              <a:rPr lang="fr-FR" err="1"/>
              <a:t>cloud</a:t>
            </a:r>
            <a:r>
              <a:rPr lang="fr-FR"/>
              <a:t> public.</a:t>
            </a:r>
          </a:p>
          <a:p>
            <a:r>
              <a:rPr lang="fr-FR"/>
              <a:t>Voici quelques-uns des principaux facteurs qui expliquent pourquoi une infrastructure agile est bénéfique pour </a:t>
            </a:r>
            <a:r>
              <a:rPr lang="fr-FR" err="1"/>
              <a:t>DevOps</a:t>
            </a:r>
            <a:r>
              <a:rPr lang="fr-FR"/>
              <a:t>:</a:t>
            </a: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br>
              <a:rPr lang="fr-FR"/>
            </a:br>
            <a:r>
              <a:rPr lang="fr-FR" sz="3100">
                <a:solidFill>
                  <a:srgbClr val="002060"/>
                </a:solidFill>
              </a:rPr>
              <a:t> &gt; Infrastructure agile</a:t>
            </a:r>
            <a:endParaRPr lang="fr-F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fontScale="92500" lnSpcReduction="10000"/>
          </a:bodyPr>
          <a:lstStyle/>
          <a:p>
            <a:pPr>
              <a:buFont typeface="Arial" pitchFamily="34" charset="0"/>
              <a:buChar char="•"/>
            </a:pPr>
            <a:r>
              <a:rPr lang="fr-FR"/>
              <a:t>Vous payez ce que vous utilisez avec une tarification transparente et simple.</a:t>
            </a:r>
          </a:p>
          <a:p>
            <a:pPr>
              <a:buFont typeface="Arial" pitchFamily="34" charset="0"/>
              <a:buChar char="•"/>
            </a:pPr>
            <a:r>
              <a:rPr lang="fr-FR"/>
              <a:t>Vous pouvez rapidement provisionner et désactiver vos environnements de test et de production à partir de votre base de code (</a:t>
            </a:r>
            <a:r>
              <a:rPr lang="fr-FR" err="1"/>
              <a:t>IaC</a:t>
            </a:r>
            <a:r>
              <a:rPr lang="fr-FR"/>
              <a:t> - Infrastructure as Code)</a:t>
            </a:r>
          </a:p>
          <a:p>
            <a:pPr>
              <a:buFont typeface="Arial" pitchFamily="34" charset="0"/>
              <a:buChar char="•"/>
            </a:pPr>
            <a:r>
              <a:rPr lang="fr-FR"/>
              <a:t>Vous avez une flexibilité architecturale</a:t>
            </a:r>
          </a:p>
          <a:p>
            <a:pPr>
              <a:buFont typeface="Arial" pitchFamily="34" charset="0"/>
              <a:buChar char="•"/>
            </a:pPr>
            <a:r>
              <a:rPr lang="fr-FR"/>
              <a:t>Vous pouvez facilement étendre d'autres zones géographiques.</a:t>
            </a:r>
          </a:p>
          <a:p>
            <a:pPr>
              <a:buFont typeface="Arial" pitchFamily="34" charset="0"/>
              <a:buChar char="•"/>
            </a:pPr>
            <a:r>
              <a:rPr lang="fr-FR"/>
              <a:t>Vous avez probablement une meilleure sécurité.</a:t>
            </a:r>
          </a:p>
          <a:p>
            <a:pPr>
              <a:buFont typeface="Arial" pitchFamily="34" charset="0"/>
              <a:buChar char="•"/>
            </a:pPr>
            <a:r>
              <a:rPr lang="fr-FR"/>
              <a:t>Vous restez conforme sans audits et coûts supplémentaires.</a:t>
            </a:r>
          </a:p>
          <a:p>
            <a:endParaRPr lang="fr-FR"/>
          </a:p>
        </p:txBody>
      </p:sp>
      <p:sp>
        <p:nvSpPr>
          <p:cNvPr id="3" name="Titre 2"/>
          <p:cNvSpPr>
            <a:spLocks noGrp="1"/>
          </p:cNvSpPr>
          <p:nvPr>
            <p:ph type="title"/>
          </p:nvPr>
        </p:nvSpPr>
        <p:spPr/>
        <p:txBody>
          <a:bodyPr>
            <a:normAutofit fontScale="90000"/>
          </a:bodyPr>
          <a:lstStyle/>
          <a:p>
            <a:r>
              <a:rPr lang="fr-FR" err="1"/>
              <a:t>DevOps</a:t>
            </a:r>
            <a:r>
              <a:rPr lang="fr-FR"/>
              <a:t> et les autres référentiels</a:t>
            </a:r>
            <a:br>
              <a:rPr lang="fr-FR"/>
            </a:br>
            <a:r>
              <a:rPr lang="fr-FR" sz="3100">
                <a:solidFill>
                  <a:srgbClr val="002060"/>
                </a:solidFill>
              </a:rPr>
              <a:t> &gt; Infrastructure agile</a:t>
            </a:r>
            <a:endParaRPr lang="fr-F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fontScale="92500" lnSpcReduction="20000"/>
          </a:bodyPr>
          <a:lstStyle/>
          <a:p>
            <a:r>
              <a:rPr lang="fr-FR"/>
              <a:t>Dans cette section, nous vous avons expliqué ce qu'est le </a:t>
            </a:r>
            <a:r>
              <a:rPr lang="fr-FR" err="1"/>
              <a:t>DevOps</a:t>
            </a:r>
            <a:r>
              <a:rPr lang="fr-FR"/>
              <a:t> et ce qu'il n'est pas</a:t>
            </a:r>
          </a:p>
          <a:p>
            <a:r>
              <a:rPr lang="fr-FR"/>
              <a:t>nous avons également couvert les principaux mouvements et principes dont est issu le </a:t>
            </a:r>
            <a:r>
              <a:rPr lang="fr-FR" err="1"/>
              <a:t>DevOps</a:t>
            </a:r>
            <a:r>
              <a:rPr lang="fr-FR"/>
              <a:t>.</a:t>
            </a:r>
          </a:p>
          <a:p>
            <a:r>
              <a:rPr lang="fr-FR"/>
              <a:t>Une petite mise en garde: comme de nombreux praticiens agiles le font malheureusement dans leurs pratiques agiles depuis des années, vous ne devriez pas vous en tenir à une définition granuleuse de </a:t>
            </a:r>
            <a:r>
              <a:rPr lang="fr-FR" err="1"/>
              <a:t>DevOps</a:t>
            </a:r>
            <a:r>
              <a:rPr lang="fr-FR"/>
              <a:t> pour dicter comment votre organisation particulière, votre produit, votre service et surtout votre équipe devraient utilisez </a:t>
            </a:r>
            <a:r>
              <a:rPr lang="fr-FR" err="1"/>
              <a:t>DevOps</a:t>
            </a:r>
            <a:r>
              <a:rPr lang="fr-FR"/>
              <a:t>.</a:t>
            </a:r>
            <a:br>
              <a:rPr lang="fr-FR"/>
            </a:br>
            <a:endParaRPr lang="fr-FR"/>
          </a:p>
        </p:txBody>
      </p:sp>
      <p:sp>
        <p:nvSpPr>
          <p:cNvPr id="3" name="Titre 2"/>
          <p:cNvSpPr>
            <a:spLocks noGrp="1"/>
          </p:cNvSpPr>
          <p:nvPr>
            <p:ph type="title"/>
          </p:nvPr>
        </p:nvSpPr>
        <p:spPr/>
        <p:txBody>
          <a:bodyPr/>
          <a:lstStyle/>
          <a:p>
            <a:r>
              <a:rPr lang="en-US"/>
              <a:t>CONCLUSION </a:t>
            </a:r>
            <a:endParaRPr lang="fr-F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fontScale="92500" lnSpcReduction="10000"/>
          </a:bodyPr>
          <a:lstStyle/>
          <a:p>
            <a:r>
              <a:rPr lang="fr-FR"/>
              <a:t>Il n’existe pas de solution universelle. Ni en agile ni en </a:t>
            </a:r>
            <a:r>
              <a:rPr lang="fr-FR" err="1"/>
              <a:t>DevOps</a:t>
            </a:r>
            <a:r>
              <a:rPr lang="fr-FR"/>
              <a:t>. N'oubliez jamais qu'il s'agit d'apprentissage, d'expérimentation et d'adaptation</a:t>
            </a:r>
          </a:p>
          <a:p>
            <a:r>
              <a:rPr lang="fr-FR"/>
              <a:t>Comme </a:t>
            </a:r>
            <a:r>
              <a:rPr lang="fr-FR" err="1"/>
              <a:t>DevOps</a:t>
            </a:r>
            <a:r>
              <a:rPr lang="fr-FR"/>
              <a:t> apportera beaucoup d’avantages pour nous, il est de notre plus grand devoir en tant qu'esprit humain d'identifier notre version correcte et le ton de </a:t>
            </a:r>
            <a:r>
              <a:rPr lang="fr-FR" err="1"/>
              <a:t>DevOps</a:t>
            </a:r>
            <a:r>
              <a:rPr lang="fr-FR"/>
              <a:t>. C'est ce que font toutes les organisations </a:t>
            </a:r>
            <a:r>
              <a:rPr lang="fr-FR" err="1"/>
              <a:t>DevOps</a:t>
            </a:r>
            <a:r>
              <a:rPr lang="fr-FR"/>
              <a:t> à succès, y compris Google, Amazon, </a:t>
            </a:r>
            <a:r>
              <a:rPr lang="fr-FR" err="1"/>
              <a:t>Facebook</a:t>
            </a:r>
            <a:r>
              <a:rPr lang="fr-FR"/>
              <a:t>, </a:t>
            </a:r>
            <a:r>
              <a:rPr lang="fr-FR" err="1"/>
              <a:t>Netflix</a:t>
            </a:r>
            <a:r>
              <a:rPr lang="fr-FR"/>
              <a:t> et Apple.</a:t>
            </a:r>
            <a:br>
              <a:rPr lang="fr-FR"/>
            </a:br>
            <a:endParaRPr lang="fr-FR"/>
          </a:p>
        </p:txBody>
      </p:sp>
      <p:sp>
        <p:nvSpPr>
          <p:cNvPr id="3" name="Titre 2"/>
          <p:cNvSpPr>
            <a:spLocks noGrp="1"/>
          </p:cNvSpPr>
          <p:nvPr>
            <p:ph type="title"/>
          </p:nvPr>
        </p:nvSpPr>
        <p:spPr/>
        <p:txBody>
          <a:bodyPr/>
          <a:lstStyle/>
          <a:p>
            <a:r>
              <a:rPr lang="en-US"/>
              <a:t>CONCLUSION</a:t>
            </a:r>
            <a:endParaRPr lang="fr-F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Rotonde">
  <a:themeElements>
    <a:clrScheme name="Rotond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Rotond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Rotond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Application>Microsoft Office PowerPoint</Application>
  <PresentationFormat>On-screen Show (4:3)</PresentationFormat>
  <Slides>26</Slides>
  <Notes>21</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Rotonde</vt:lpstr>
      <vt:lpstr>DevOps Introduction</vt:lpstr>
      <vt:lpstr>Plan</vt:lpstr>
      <vt:lpstr>Introduction</vt:lpstr>
      <vt:lpstr>Introduction</vt:lpstr>
      <vt:lpstr>DevOps. C’est quoi ?</vt:lpstr>
      <vt:lpstr>DevOps. C’est quoi ?</vt:lpstr>
      <vt:lpstr>DevOps. C’est quoi ?</vt:lpstr>
      <vt:lpstr>DevOps. C’est quoi ?</vt:lpstr>
      <vt:lpstr>DevOps et les autres référentiels</vt:lpstr>
      <vt:lpstr>DevOps et les autres référentiels &gt;La méthode Lean</vt:lpstr>
      <vt:lpstr>DevOps et les autres référentiels  &gt;La méthode Lean</vt:lpstr>
      <vt:lpstr>DevOps et les autres référentiels  &gt;La méthode Lean</vt:lpstr>
      <vt:lpstr>DevOps et les autres référentiels  &gt;La méthode Lean</vt:lpstr>
      <vt:lpstr>DevOps et les autres référentiels  &gt;La méthode Lean</vt:lpstr>
      <vt:lpstr>DevOps et les autres référentiels &gt; Kata d’amélioration de Toyota </vt:lpstr>
      <vt:lpstr>DevOps et les autres référentiels  &gt; Kata d’amélioration de Toyota </vt:lpstr>
      <vt:lpstr>DevOps et les autres référentiels  &gt; Kata d’amélioration de Toyota </vt:lpstr>
      <vt:lpstr>DevOps et les autres référentiels &gt; Théorie des contraintes</vt:lpstr>
      <vt:lpstr>DevOps et les autres référentiels  &gt; Théorie des contraintes</vt:lpstr>
      <vt:lpstr>DevOps et les autres référentiels  &gt; Théorie des contraintes</vt:lpstr>
      <vt:lpstr>DevOps et les autres référentiels  &gt; Théorie des contraintes</vt:lpstr>
      <vt:lpstr>DevOps et les autres référentiels  &gt; Manifeste agile</vt:lpstr>
      <vt:lpstr>DevOps et les autres référentiels  &gt; Infrastructure agile</vt:lpstr>
      <vt:lpstr>DevOps et les autres référentiels  &gt; Infrastructure agile</vt:lpstr>
      <vt:lpstr>CONCLUSION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dc:title>
  <dc:creator>Maher JAOUADI</dc:creator>
  <cp:revision>1</cp:revision>
  <dcterms:created xsi:type="dcterms:W3CDTF">2021-04-27T04:11:41Z</dcterms:created>
  <dcterms:modified xsi:type="dcterms:W3CDTF">2021-06-19T15:14:59Z</dcterms:modified>
</cp:coreProperties>
</file>